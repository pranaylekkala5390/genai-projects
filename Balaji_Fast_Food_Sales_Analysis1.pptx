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B1B"/>
        </a:solidFill>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8C1D22"/>
          </a:solidFill>
          <a:ln/>
        </p:spPr>
      </p:sp>
      <p:sp>
        <p:nvSpPr>
          <p:cNvPr id="3" name="Shape 1"/>
          <p:cNvSpPr/>
          <p:nvPr/>
        </p:nvSpPr>
        <p:spPr>
          <a:xfrm>
            <a:off x="10789920" y="4937760"/>
            <a:ext cx="2743200" cy="2743200"/>
          </a:xfrm>
          <a:prstGeom prst="ellipse">
            <a:avLst/>
          </a:prstGeom>
          <a:solidFill>
            <a:srgbClr val="F4A300"/>
          </a:solidFill>
          <a:ln/>
        </p:spPr>
      </p:sp>
      <p:sp>
        <p:nvSpPr>
          <p:cNvPr id="4" name="Shape 2"/>
          <p:cNvSpPr/>
          <p:nvPr/>
        </p:nvSpPr>
        <p:spPr>
          <a:xfrm>
            <a:off x="9052560" y="457200"/>
            <a:ext cx="2743200" cy="1005840"/>
          </a:xfrm>
          <a:prstGeom prst="roundRect">
            <a:avLst>
              <a:gd name="adj" fmla="val 9091"/>
            </a:avLst>
          </a:prstGeom>
          <a:solidFill>
            <a:srgbClr val="FFFFFF"/>
          </a:solidFill>
          <a:ln/>
          <a:effectLst>
            <a:outerShdw sx="100000" sy="100000" kx="0" ky="0" algn="bl" rotWithShape="0" blurRad="101600" dist="38100" dir="5400000">
              <a:srgbClr val="000000">
                <a:alpha val="35000"/>
              </a:srgbClr>
            </a:outerShdw>
          </a:effectLst>
        </p:spPr>
      </p:sp>
      <p:pic>
        <p:nvPicPr>
          <p:cNvPr id="5" name="Image 0" descr="/home/claude/assets/logo.png">    </p:cNvPr>
          <p:cNvPicPr>
            <a:picLocks noChangeAspect="1"/>
          </p:cNvPicPr>
          <p:nvPr/>
        </p:nvPicPr>
        <p:blipFill>
          <a:blip r:embed="rId1"/>
          <a:stretch>
            <a:fillRect/>
          </a:stretch>
        </p:blipFill>
        <p:spPr>
          <a:xfrm>
            <a:off x="9281160" y="621792"/>
            <a:ext cx="2286000" cy="790956"/>
          </a:xfrm>
          <a:prstGeom prst="rect">
            <a:avLst/>
          </a:prstGeom>
        </p:spPr>
      </p:pic>
      <p:sp>
        <p:nvSpPr>
          <p:cNvPr id="6" name="Text 3"/>
          <p:cNvSpPr/>
          <p:nvPr/>
        </p:nvSpPr>
        <p:spPr>
          <a:xfrm>
            <a:off x="640080" y="2148840"/>
            <a:ext cx="7315200" cy="365760"/>
          </a:xfrm>
          <a:prstGeom prst="rect">
            <a:avLst/>
          </a:prstGeom>
          <a:noFill/>
          <a:ln/>
        </p:spPr>
        <p:txBody>
          <a:bodyPr wrap="square" rtlCol="0" anchor="ctr"/>
          <a:lstStyle/>
          <a:p>
            <a:pPr indent="0" marL="0">
              <a:buNone/>
            </a:pPr>
            <a:r>
              <a:rPr lang="en-US" sz="1400" b="1" spc="300" kern="0" dirty="0">
                <a:solidFill>
                  <a:srgbClr val="F4A300"/>
                </a:solidFill>
                <a:latin typeface="Calibri" pitchFamily="34" charset="0"/>
                <a:ea typeface="Calibri" pitchFamily="34" charset="-122"/>
                <a:cs typeface="Calibri" pitchFamily="34" charset="-120"/>
              </a:rPr>
              <a:t>DATA ANALYTICS PROJECT</a:t>
            </a:r>
            <a:endParaRPr lang="en-US" sz="1400" dirty="0"/>
          </a:p>
        </p:txBody>
      </p:sp>
      <p:sp>
        <p:nvSpPr>
          <p:cNvPr id="7" name="Text 4"/>
          <p:cNvSpPr/>
          <p:nvPr/>
        </p:nvSpPr>
        <p:spPr>
          <a:xfrm>
            <a:off x="594360" y="2514600"/>
            <a:ext cx="8686800" cy="2011680"/>
          </a:xfrm>
          <a:prstGeom prst="rect">
            <a:avLst/>
          </a:prstGeom>
          <a:noFill/>
          <a:ln/>
        </p:spPr>
        <p:txBody>
          <a:bodyPr wrap="square" rtlCol="0" anchor="ctr"/>
          <a:lstStyle/>
          <a:p>
            <a:pPr indent="0" marL="0">
              <a:lnSpc>
                <a:spcPct val="105000"/>
              </a:lnSpc>
              <a:buNone/>
            </a:pPr>
            <a:r>
              <a:rPr lang="en-US" sz="4800" b="1" dirty="0">
                <a:solidFill>
                  <a:srgbClr val="FFFFFF"/>
                </a:solidFill>
                <a:latin typeface="Cambria" pitchFamily="34" charset="0"/>
                <a:ea typeface="Cambria" pitchFamily="34" charset="-122"/>
                <a:cs typeface="Cambria" pitchFamily="34" charset="-120"/>
              </a:rPr>
              <a:t>Balaji Fast Food</a:t>
            </a:r>
            <a:endParaRPr lang="en-US" sz="4800" dirty="0"/>
          </a:p>
          <a:p>
            <a:pPr indent="0" marL="0">
              <a:lnSpc>
                <a:spcPct val="105000"/>
              </a:lnSpc>
              <a:buNone/>
            </a:pPr>
            <a:r>
              <a:rPr lang="en-US" sz="4800" b="1" dirty="0">
                <a:solidFill>
                  <a:srgbClr val="FFFFFF"/>
                </a:solidFill>
                <a:latin typeface="Cambria" pitchFamily="34" charset="0"/>
                <a:ea typeface="Cambria" pitchFamily="34" charset="-122"/>
                <a:cs typeface="Cambria" pitchFamily="34" charset="-120"/>
              </a:rPr>
              <a:t>Sales Analysis</a:t>
            </a:r>
            <a:endParaRPr lang="en-US" sz="4800" dirty="0"/>
          </a:p>
        </p:txBody>
      </p:sp>
      <p:sp>
        <p:nvSpPr>
          <p:cNvPr id="8" name="Text 5"/>
          <p:cNvSpPr/>
          <p:nvPr/>
        </p:nvSpPr>
        <p:spPr>
          <a:xfrm>
            <a:off x="640080" y="4526280"/>
            <a:ext cx="8046720" cy="640080"/>
          </a:xfrm>
          <a:prstGeom prst="rect">
            <a:avLst/>
          </a:prstGeom>
          <a:noFill/>
          <a:ln/>
        </p:spPr>
        <p:txBody>
          <a:bodyPr wrap="square" rtlCol="0" anchor="ctr"/>
          <a:lstStyle/>
          <a:p>
            <a:pPr indent="0" marL="0">
              <a:lnSpc>
                <a:spcPct val="120000"/>
              </a:lnSpc>
              <a:buNone/>
            </a:pPr>
            <a:r>
              <a:rPr lang="en-US" sz="1400" dirty="0">
                <a:solidFill>
                  <a:srgbClr val="D8D8D8"/>
                </a:solidFill>
                <a:latin typeface="Calibri" pitchFamily="34" charset="0"/>
                <a:ea typeface="Calibri" pitchFamily="34" charset="-122"/>
                <a:cs typeface="Calibri" pitchFamily="34" charset="-120"/>
              </a:rPr>
              <a:t>Exploratory data analysis of 1,000 transactions to uncover product, revenue,</a:t>
            </a:r>
            <a:endParaRPr lang="en-US" sz="1400" dirty="0"/>
          </a:p>
          <a:p>
            <a:pPr indent="0" marL="0">
              <a:lnSpc>
                <a:spcPct val="120000"/>
              </a:lnSpc>
              <a:buNone/>
            </a:pPr>
            <a:r>
              <a:rPr lang="en-US" sz="1400" dirty="0">
                <a:solidFill>
                  <a:srgbClr val="D8D8D8"/>
                </a:solidFill>
                <a:latin typeface="Calibri" pitchFamily="34" charset="0"/>
                <a:ea typeface="Calibri" pitchFamily="34" charset="-122"/>
                <a:cs typeface="Calibri" pitchFamily="34" charset="-120"/>
              </a:rPr>
              <a:t>and customer purchasing patterns</a:t>
            </a:r>
            <a:endParaRPr lang="en-US" sz="1400" dirty="0"/>
          </a:p>
        </p:txBody>
      </p:sp>
      <p:sp>
        <p:nvSpPr>
          <p:cNvPr id="9" name="Shape 6"/>
          <p:cNvSpPr/>
          <p:nvPr/>
        </p:nvSpPr>
        <p:spPr>
          <a:xfrm>
            <a:off x="640080" y="5349240"/>
            <a:ext cx="1005840" cy="0"/>
          </a:xfrm>
          <a:prstGeom prst="line">
            <a:avLst/>
          </a:prstGeom>
          <a:noFill/>
          <a:ln w="38100">
            <a:solidFill>
              <a:srgbClr val="F4A300"/>
            </a:solidFill>
            <a:prstDash val="solid"/>
          </a:ln>
        </p:spPr>
      </p:sp>
      <p:sp>
        <p:nvSpPr>
          <p:cNvPr id="10" name="Text 7"/>
          <p:cNvSpPr/>
          <p:nvPr/>
        </p:nvSpPr>
        <p:spPr>
          <a:xfrm>
            <a:off x="640080" y="5486400"/>
            <a:ext cx="4572000" cy="41148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Team Ignis</a:t>
            </a:r>
            <a:endParaRPr lang="en-US" sz="2000" dirty="0"/>
          </a:p>
        </p:txBody>
      </p:sp>
      <p:sp>
        <p:nvSpPr>
          <p:cNvPr id="11" name="Text 8"/>
          <p:cNvSpPr/>
          <p:nvPr/>
        </p:nvSpPr>
        <p:spPr>
          <a:xfrm>
            <a:off x="640080" y="5943600"/>
            <a:ext cx="7315200" cy="320040"/>
          </a:xfrm>
          <a:prstGeom prst="rect">
            <a:avLst/>
          </a:prstGeom>
          <a:noFill/>
          <a:ln/>
        </p:spPr>
        <p:txBody>
          <a:bodyPr wrap="square" rtlCol="0" anchor="ctr"/>
          <a:lstStyle/>
          <a:p>
            <a:pPr indent="0" marL="0">
              <a:buNone/>
            </a:pPr>
            <a:r>
              <a:rPr lang="en-US" sz="1200" dirty="0">
                <a:solidFill>
                  <a:srgbClr val="B8B8B8"/>
                </a:solidFill>
                <a:latin typeface="Calibri" pitchFamily="34" charset="0"/>
                <a:ea typeface="Calibri" pitchFamily="34" charset="-122"/>
                <a:cs typeface="Calibri" pitchFamily="34" charset="-120"/>
              </a:rPr>
              <a:t>GMR Institute of Technology (GMRIT)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indent="0" marL="0">
              <a:buNone/>
            </a:pPr>
            <a:r>
              <a:rPr lang="en-US" sz="1300" b="1" spc="200" kern="0" dirty="0">
                <a:solidFill>
                  <a:srgbClr val="C1272D"/>
                </a:solidFill>
                <a:latin typeface="Calibri" pitchFamily="34" charset="0"/>
                <a:ea typeface="Calibri" pitchFamily="34" charset="-122"/>
                <a:cs typeface="Calibri" pitchFamily="34" charset="-120"/>
              </a:rPr>
              <a:t>PROBLEM STATEMENT</a:t>
            </a:r>
            <a:endParaRPr lang="en-US" sz="1300" dirty="0"/>
          </a:p>
        </p:txBody>
      </p:sp>
      <p:sp>
        <p:nvSpPr>
          <p:cNvPr id="3" name="Text 1"/>
          <p:cNvSpPr/>
          <p:nvPr/>
        </p:nvSpPr>
        <p:spPr>
          <a:xfrm>
            <a:off x="548640" y="713232"/>
            <a:ext cx="8229600" cy="640080"/>
          </a:xfrm>
          <a:prstGeom prst="rect">
            <a:avLst/>
          </a:prstGeom>
          <a:noFill/>
          <a:ln/>
        </p:spPr>
        <p:txBody>
          <a:bodyPr wrap="square" rtlCol="0" anchor="ctr"/>
          <a:lstStyle/>
          <a:p>
            <a:pPr indent="0" marL="0">
              <a:buNone/>
            </a:pPr>
            <a:r>
              <a:rPr lang="en-US" sz="3200" b="1" dirty="0">
                <a:solidFill>
                  <a:srgbClr val="1B1B1B"/>
                </a:solidFill>
                <a:latin typeface="Cambria" pitchFamily="34" charset="0"/>
                <a:ea typeface="Cambria" pitchFamily="34" charset="-122"/>
                <a:cs typeface="Cambria" pitchFamily="34" charset="-120"/>
              </a:rPr>
              <a:t>Why This Project</a:t>
            </a:r>
            <a:endParaRPr lang="en-US" sz="3200" dirty="0"/>
          </a:p>
        </p:txBody>
      </p:sp>
      <p:sp>
        <p:nvSpPr>
          <p:cNvPr id="4" name="Shape 2"/>
          <p:cNvSpPr/>
          <p:nvPr/>
        </p:nvSpPr>
        <p:spPr>
          <a:xfrm>
            <a:off x="548640" y="1783080"/>
            <a:ext cx="11064240" cy="2468880"/>
          </a:xfrm>
          <a:prstGeom prst="roundRect">
            <a:avLst>
              <a:gd name="adj" fmla="val 3704"/>
            </a:avLst>
          </a:prstGeom>
          <a:solidFill>
            <a:srgbClr val="F4F4F4"/>
          </a:solidFill>
          <a:ln/>
        </p:spPr>
      </p:sp>
      <p:sp>
        <p:nvSpPr>
          <p:cNvPr id="5" name="Text 3"/>
          <p:cNvSpPr/>
          <p:nvPr/>
        </p:nvSpPr>
        <p:spPr>
          <a:xfrm>
            <a:off x="685800" y="1572768"/>
            <a:ext cx="1097280" cy="1097280"/>
          </a:xfrm>
          <a:prstGeom prst="rect">
            <a:avLst/>
          </a:prstGeom>
          <a:noFill/>
          <a:ln/>
        </p:spPr>
        <p:txBody>
          <a:bodyPr wrap="square" rtlCol="0" anchor="ctr"/>
          <a:lstStyle/>
          <a:p>
            <a:pPr indent="0" marL="0">
              <a:buNone/>
            </a:pPr>
            <a:r>
              <a:rPr lang="en-US" sz="7000" b="1" dirty="0">
                <a:solidFill>
                  <a:srgbClr val="E3B3B3"/>
                </a:solidFill>
                <a:latin typeface="Cambria" pitchFamily="34" charset="0"/>
                <a:ea typeface="Cambria" pitchFamily="34" charset="-122"/>
                <a:cs typeface="Cambria" pitchFamily="34" charset="-120"/>
              </a:rPr>
              <a:t>"</a:t>
            </a:r>
            <a:endParaRPr lang="en-US" sz="7000" dirty="0"/>
          </a:p>
        </p:txBody>
      </p:sp>
      <p:sp>
        <p:nvSpPr>
          <p:cNvPr id="6" name="Text 4"/>
          <p:cNvSpPr/>
          <p:nvPr/>
        </p:nvSpPr>
        <p:spPr>
          <a:xfrm>
            <a:off x="1005840" y="2011680"/>
            <a:ext cx="10241280" cy="2011680"/>
          </a:xfrm>
          <a:prstGeom prst="rect">
            <a:avLst/>
          </a:prstGeom>
          <a:noFill/>
          <a:ln/>
        </p:spPr>
        <p:txBody>
          <a:bodyPr wrap="square" rtlCol="0" anchor="ctr"/>
          <a:lstStyle/>
          <a:p>
            <a:pPr indent="0" marL="0">
              <a:lnSpc>
                <a:spcPct val="135000"/>
              </a:lnSpc>
              <a:buNone/>
            </a:pPr>
            <a:r>
              <a:rPr lang="en-US" sz="1650" dirty="0">
                <a:solidFill>
                  <a:srgbClr val="1B1B1B"/>
                </a:solidFill>
                <a:latin typeface="Calibri" pitchFamily="34" charset="0"/>
                <a:ea typeface="Calibri" pitchFamily="34" charset="-122"/>
                <a:cs typeface="Calibri" pitchFamily="34" charset="-120"/>
              </a:rPr>
              <a:t>The project aims to analyze Balaji Fast Food sales data to identify data quality issues, sales trends, customer behavior, and product performance. Using Python, Pandas, Matplotlib, and Seaborn, the data will be cleaned, analyzed, and visualized to generate useful insights and recommendations for improving revenue and business operations.</a:t>
            </a:r>
            <a:endParaRPr lang="en-US" sz="1650" dirty="0"/>
          </a:p>
        </p:txBody>
      </p:sp>
      <p:sp>
        <p:nvSpPr>
          <p:cNvPr id="7" name="Text 5"/>
          <p:cNvSpPr/>
          <p:nvPr/>
        </p:nvSpPr>
        <p:spPr>
          <a:xfrm>
            <a:off x="548640" y="4572000"/>
            <a:ext cx="5486400" cy="274320"/>
          </a:xfrm>
          <a:prstGeom prst="rect">
            <a:avLst/>
          </a:prstGeom>
          <a:noFill/>
          <a:ln/>
        </p:spPr>
        <p:txBody>
          <a:bodyPr wrap="square" rtlCol="0" anchor="ctr"/>
          <a:lstStyle/>
          <a:p>
            <a:pPr indent="0" marL="0">
              <a:buNone/>
            </a:pPr>
            <a:r>
              <a:rPr lang="en-US" sz="1100" b="1" spc="150" kern="0" dirty="0">
                <a:solidFill>
                  <a:srgbClr val="6B6B6B"/>
                </a:solidFill>
                <a:latin typeface="Calibri" pitchFamily="34" charset="0"/>
                <a:ea typeface="Calibri" pitchFamily="34" charset="-122"/>
                <a:cs typeface="Calibri" pitchFamily="34" charset="-120"/>
              </a:rPr>
              <a:t>TOOLS &amp; LIBRARIES USED</a:t>
            </a:r>
            <a:endParaRPr lang="en-US" sz="1100" dirty="0"/>
          </a:p>
        </p:txBody>
      </p:sp>
      <p:sp>
        <p:nvSpPr>
          <p:cNvPr id="8" name="Shape 6"/>
          <p:cNvSpPr/>
          <p:nvPr/>
        </p:nvSpPr>
        <p:spPr>
          <a:xfrm>
            <a:off x="548640" y="4937760"/>
            <a:ext cx="2286000" cy="685800"/>
          </a:xfrm>
          <a:prstGeom prst="roundRect">
            <a:avLst>
              <a:gd name="adj" fmla="val 10667"/>
            </a:avLst>
          </a:prstGeom>
          <a:solidFill>
            <a:srgbClr val="C1272D"/>
          </a:solidFill>
          <a:ln/>
        </p:spPr>
      </p:sp>
      <p:sp>
        <p:nvSpPr>
          <p:cNvPr id="9" name="Text 7"/>
          <p:cNvSpPr/>
          <p:nvPr/>
        </p:nvSpPr>
        <p:spPr>
          <a:xfrm>
            <a:off x="548640" y="4937760"/>
            <a:ext cx="2286000" cy="6858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Python</a:t>
            </a:r>
            <a:endParaRPr lang="en-US" sz="1500" dirty="0"/>
          </a:p>
        </p:txBody>
      </p:sp>
      <p:sp>
        <p:nvSpPr>
          <p:cNvPr id="10" name="Shape 8"/>
          <p:cNvSpPr/>
          <p:nvPr/>
        </p:nvSpPr>
        <p:spPr>
          <a:xfrm>
            <a:off x="3108960" y="4937760"/>
            <a:ext cx="2286000" cy="685800"/>
          </a:xfrm>
          <a:prstGeom prst="roundRect">
            <a:avLst>
              <a:gd name="adj" fmla="val 10667"/>
            </a:avLst>
          </a:prstGeom>
          <a:solidFill>
            <a:srgbClr val="8C1D22"/>
          </a:solidFill>
          <a:ln/>
        </p:spPr>
      </p:sp>
      <p:sp>
        <p:nvSpPr>
          <p:cNvPr id="11" name="Text 9"/>
          <p:cNvSpPr/>
          <p:nvPr/>
        </p:nvSpPr>
        <p:spPr>
          <a:xfrm>
            <a:off x="3108960" y="4937760"/>
            <a:ext cx="2286000" cy="6858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Pandas</a:t>
            </a:r>
            <a:endParaRPr lang="en-US" sz="1500" dirty="0"/>
          </a:p>
        </p:txBody>
      </p:sp>
      <p:sp>
        <p:nvSpPr>
          <p:cNvPr id="12" name="Shape 10"/>
          <p:cNvSpPr/>
          <p:nvPr/>
        </p:nvSpPr>
        <p:spPr>
          <a:xfrm>
            <a:off x="5669280" y="4937760"/>
            <a:ext cx="2286000" cy="685800"/>
          </a:xfrm>
          <a:prstGeom prst="roundRect">
            <a:avLst>
              <a:gd name="adj" fmla="val 10667"/>
            </a:avLst>
          </a:prstGeom>
          <a:solidFill>
            <a:srgbClr val="C1272D"/>
          </a:solidFill>
          <a:ln/>
        </p:spPr>
      </p:sp>
      <p:sp>
        <p:nvSpPr>
          <p:cNvPr id="13" name="Text 11"/>
          <p:cNvSpPr/>
          <p:nvPr/>
        </p:nvSpPr>
        <p:spPr>
          <a:xfrm>
            <a:off x="5669280" y="4937760"/>
            <a:ext cx="2286000" cy="6858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Matplotlib</a:t>
            </a:r>
            <a:endParaRPr lang="en-US" sz="1500" dirty="0"/>
          </a:p>
        </p:txBody>
      </p:sp>
      <p:sp>
        <p:nvSpPr>
          <p:cNvPr id="14" name="Shape 12"/>
          <p:cNvSpPr/>
          <p:nvPr/>
        </p:nvSpPr>
        <p:spPr>
          <a:xfrm>
            <a:off x="8229600" y="4937760"/>
            <a:ext cx="2286000" cy="685800"/>
          </a:xfrm>
          <a:prstGeom prst="roundRect">
            <a:avLst>
              <a:gd name="adj" fmla="val 10667"/>
            </a:avLst>
          </a:prstGeom>
          <a:solidFill>
            <a:srgbClr val="8C1D22"/>
          </a:solidFill>
          <a:ln/>
        </p:spPr>
      </p:sp>
      <p:sp>
        <p:nvSpPr>
          <p:cNvPr id="15" name="Text 13"/>
          <p:cNvSpPr/>
          <p:nvPr/>
        </p:nvSpPr>
        <p:spPr>
          <a:xfrm>
            <a:off x="8229600" y="4937760"/>
            <a:ext cx="2286000" cy="6858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Seaborn</a:t>
            </a:r>
            <a:endParaRPr lang="en-US" sz="1500" dirty="0"/>
          </a:p>
        </p:txBody>
      </p:sp>
      <p:sp>
        <p:nvSpPr>
          <p:cNvPr id="16" name="Text 14"/>
          <p:cNvSpPr/>
          <p:nvPr/>
        </p:nvSpPr>
        <p:spPr>
          <a:xfrm>
            <a:off x="457200" y="6537960"/>
            <a:ext cx="5486400" cy="274320"/>
          </a:xfrm>
          <a:prstGeom prst="rect">
            <a:avLst/>
          </a:prstGeom>
          <a:noFill/>
          <a:ln/>
        </p:spPr>
        <p:txBody>
          <a:bodyPr wrap="square" rtlCol="0" anchor="ctr"/>
          <a:lstStyle/>
          <a:p>
            <a:pPr indent="0" marL="0">
              <a:buNone/>
            </a:pPr>
            <a:r>
              <a:rPr lang="en-US" sz="900" dirty="0">
                <a:solidFill>
                  <a:srgbClr val="6B6B6B"/>
                </a:solidFill>
                <a:latin typeface="Calibri" pitchFamily="34" charset="0"/>
                <a:ea typeface="Calibri" pitchFamily="34" charset="-122"/>
                <a:cs typeface="Calibri" pitchFamily="34" charset="-120"/>
              </a:rPr>
              <a:t>Balaji Fast Food Sales Analysis</a:t>
            </a:r>
            <a:endParaRPr lang="en-US" sz="900" dirty="0"/>
          </a:p>
        </p:txBody>
      </p:sp>
      <p:sp>
        <p:nvSpPr>
          <p:cNvPr id="17" name="Text 15"/>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indent="0" marL="0">
              <a:buNone/>
            </a:pPr>
            <a:r>
              <a:rPr lang="en-US" sz="1300" b="1" spc="200" kern="0" dirty="0">
                <a:solidFill>
                  <a:srgbClr val="C1272D"/>
                </a:solidFill>
                <a:latin typeface="Calibri" pitchFamily="34" charset="0"/>
                <a:ea typeface="Calibri" pitchFamily="34" charset="-122"/>
                <a:cs typeface="Calibri" pitchFamily="34" charset="-120"/>
              </a:rPr>
              <a:t>TEAM DETAILS</a:t>
            </a:r>
            <a:endParaRPr lang="en-US" sz="1300" dirty="0"/>
          </a:p>
        </p:txBody>
      </p:sp>
      <p:sp>
        <p:nvSpPr>
          <p:cNvPr id="3" name="Text 1"/>
          <p:cNvSpPr/>
          <p:nvPr/>
        </p:nvSpPr>
        <p:spPr>
          <a:xfrm>
            <a:off x="548640" y="713232"/>
            <a:ext cx="7315200" cy="640080"/>
          </a:xfrm>
          <a:prstGeom prst="rect">
            <a:avLst/>
          </a:prstGeom>
          <a:noFill/>
          <a:ln/>
        </p:spPr>
        <p:txBody>
          <a:bodyPr wrap="square" rtlCol="0" anchor="ctr"/>
          <a:lstStyle/>
          <a:p>
            <a:pPr indent="0" marL="0">
              <a:buNone/>
            </a:pPr>
            <a:r>
              <a:rPr lang="en-US" sz="3200" b="1" dirty="0">
                <a:solidFill>
                  <a:srgbClr val="1B1B1B"/>
                </a:solidFill>
                <a:latin typeface="Cambria" pitchFamily="34" charset="0"/>
                <a:ea typeface="Cambria" pitchFamily="34" charset="-122"/>
                <a:cs typeface="Cambria" pitchFamily="34" charset="-120"/>
              </a:rPr>
              <a:t>Team Ignis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7863840" cy="2194560"/>
        </p:xfrm>
        <a:graphic>
          <a:graphicData uri="http://schemas.openxmlformats.org/drawingml/2006/table">
            <a:tbl>
              <a:tblPr/>
              <a:tblGrid>
                <a:gridCol w="3108960"/>
                <a:gridCol w="2377440"/>
                <a:gridCol w="2377440"/>
              </a:tblGrid>
              <a:tr h="43891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Name</a:t>
                      </a:r>
                      <a:endParaRPr lang="en-US" sz="1300" dirty="0">
                        <a:latin typeface="Calibri" charset="0"/>
                        <a:ea typeface="Calibri" charset="0"/>
                        <a:cs typeface="Calibri" charset="0"/>
                      </a:endParaRPr>
                    </a:p>
                  </a:txBody>
                  <a:tcPr marL="101600" marR="101600" marT="76200" marB="7620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C1272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Roll Number</a:t>
                      </a:r>
                      <a:endParaRPr lang="en-US" sz="1300" dirty="0">
                        <a:latin typeface="Calibri" charset="0"/>
                        <a:ea typeface="Calibri" charset="0"/>
                        <a:cs typeface="Calibri" charset="0"/>
                      </a:endParaRPr>
                    </a:p>
                  </a:txBody>
                  <a:tcPr marL="101600" marR="101600" marT="76200" marB="7620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C1272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Role</a:t>
                      </a:r>
                      <a:endParaRPr lang="en-US" sz="1300" dirty="0">
                        <a:latin typeface="Calibri" charset="0"/>
                        <a:ea typeface="Calibri" charset="0"/>
                        <a:cs typeface="Calibri" charset="0"/>
                      </a:endParaRPr>
                    </a:p>
                  </a:txBody>
                  <a:tcPr marL="101600" marR="101600" marT="76200" marB="7620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C1272D"/>
                    </a:solidFill>
                  </a:tcPr>
                </a:tc>
              </a:tr>
              <a:tr h="438912">
                <a:tc>
                  <a:txBody>
                    <a:bodyPr/>
                    <a:lstStyle/>
                    <a:p>
                      <a:pPr indent="0" marL="0">
                        <a:buNone/>
                      </a:pPr>
                      <a:r>
                        <a:rPr lang="en-US" sz="1300" b="1" dirty="0">
                          <a:solidFill>
                            <a:srgbClr val="1B1B1B"/>
                          </a:solidFill>
                          <a:latin typeface="Calibri" pitchFamily="34" charset="0"/>
                          <a:ea typeface="Calibri" pitchFamily="34" charset="-122"/>
                          <a:cs typeface="Calibri" pitchFamily="34" charset="-120"/>
                        </a:rPr>
                        <a:t>L. Pranay</a:t>
                      </a:r>
                      <a:endParaRPr lang="en-US" sz="1300" dirty="0">
                        <a:latin typeface="Calibri" charset="0"/>
                        <a:ea typeface="Calibri" charset="0"/>
                        <a:cs typeface="Calibri" charset="0"/>
                      </a:endParaRPr>
                    </a:p>
                  </a:txBody>
                  <a:tcPr marL="101600" marR="101600" marT="76200" marB="7620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BE8E4"/>
                    </a:solidFill>
                  </a:tcPr>
                </a:tc>
                <a:tc>
                  <a:txBody>
                    <a:bodyPr/>
                    <a:lstStyle/>
                    <a:p>
                      <a:pPr indent="0" marL="0">
                        <a:buNone/>
                      </a:pPr>
                      <a:r>
                        <a:rPr lang="en-US" sz="1300" dirty="0">
                          <a:solidFill>
                            <a:srgbClr val="1B1B1B"/>
                          </a:solidFill>
                          <a:latin typeface="Calibri" pitchFamily="34" charset="0"/>
                          <a:ea typeface="Calibri" pitchFamily="34" charset="-122"/>
                          <a:cs typeface="Calibri" pitchFamily="34" charset="-120"/>
                        </a:rPr>
                        <a:t>23341A1266</a:t>
                      </a:r>
                      <a:endParaRPr lang="en-US" sz="1300" dirty="0">
                        <a:latin typeface="Calibri" charset="0"/>
                        <a:ea typeface="Calibri" charset="0"/>
                        <a:cs typeface="Calibri" charset="0"/>
                      </a:endParaRPr>
                    </a:p>
                  </a:txBody>
                  <a:tcPr marL="101600" marR="101600" marT="76200" marB="7620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BE8E4"/>
                    </a:solidFill>
                  </a:tcPr>
                </a:tc>
                <a:tc>
                  <a:txBody>
                    <a:bodyPr/>
                    <a:lstStyle/>
                    <a:p>
                      <a:pPr indent="0" marL="0">
                        <a:buNone/>
                      </a:pPr>
                      <a:r>
                        <a:rPr lang="en-US" sz="1300" b="1" dirty="0">
                          <a:solidFill>
                            <a:srgbClr val="C1272D"/>
                          </a:solidFill>
                          <a:latin typeface="Calibri" pitchFamily="34" charset="0"/>
                          <a:ea typeface="Calibri" pitchFamily="34" charset="-122"/>
                          <a:cs typeface="Calibri" pitchFamily="34" charset="-120"/>
                        </a:rPr>
                        <a:t>Team Lead</a:t>
                      </a:r>
                      <a:endParaRPr lang="en-US" sz="1300" dirty="0">
                        <a:latin typeface="Calibri" charset="0"/>
                        <a:ea typeface="Calibri" charset="0"/>
                        <a:cs typeface="Calibri" charset="0"/>
                      </a:endParaRPr>
                    </a:p>
                  </a:txBody>
                  <a:tcPr marL="101600" marR="101600" marT="76200" marB="7620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BE8E4"/>
                    </a:solidFill>
                  </a:tcPr>
                </a:tc>
              </a:tr>
              <a:tr h="438912">
                <a:tc>
                  <a:txBody>
                    <a:bodyPr/>
                    <a:lstStyle/>
                    <a:p>
                      <a:pPr indent="0" marL="0">
                        <a:buNone/>
                      </a:pPr>
                      <a:r>
                        <a:rPr lang="en-US" sz="1300" dirty="0">
                          <a:solidFill>
                            <a:srgbClr val="1B1B1B"/>
                          </a:solidFill>
                          <a:latin typeface="Calibri" pitchFamily="34" charset="0"/>
                          <a:ea typeface="Calibri" pitchFamily="34" charset="-122"/>
                          <a:cs typeface="Calibri" pitchFamily="34" charset="-120"/>
                        </a:rPr>
                        <a:t>P. Srikar</a:t>
                      </a:r>
                      <a:endParaRPr lang="en-US" sz="1300" dirty="0">
                        <a:latin typeface="Calibri" charset="0"/>
                        <a:ea typeface="Calibri" charset="0"/>
                        <a:cs typeface="Calibri" charset="0"/>
                      </a:endParaRPr>
                    </a:p>
                  </a:txBody>
                  <a:tcPr marL="101600" marR="101600" marT="76200" marB="7620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4F4F4"/>
                    </a:solidFill>
                  </a:tcPr>
                </a:tc>
                <a:tc>
                  <a:txBody>
                    <a:bodyPr/>
                    <a:lstStyle/>
                    <a:p>
                      <a:pPr indent="0" marL="0">
                        <a:buNone/>
                      </a:pPr>
                      <a:r>
                        <a:rPr lang="en-US" sz="1300" dirty="0">
                          <a:solidFill>
                            <a:srgbClr val="1B1B1B"/>
                          </a:solidFill>
                          <a:latin typeface="Calibri" pitchFamily="34" charset="0"/>
                          <a:ea typeface="Calibri" pitchFamily="34" charset="-122"/>
                          <a:cs typeface="Calibri" pitchFamily="34" charset="-120"/>
                        </a:rPr>
                        <a:t>23341A1288</a:t>
                      </a:r>
                      <a:endParaRPr lang="en-US" sz="1300" dirty="0">
                        <a:latin typeface="Calibri" charset="0"/>
                        <a:ea typeface="Calibri" charset="0"/>
                        <a:cs typeface="Calibri" charset="0"/>
                      </a:endParaRPr>
                    </a:p>
                  </a:txBody>
                  <a:tcPr marL="101600" marR="101600" marT="76200" marB="7620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4F4F4"/>
                    </a:solidFill>
                  </a:tcPr>
                </a:tc>
                <a:tc>
                  <a:txBody>
                    <a:bodyPr/>
                    <a:lstStyle/>
                    <a:p>
                      <a:pPr indent="0" marL="0">
                        <a:buNone/>
                      </a:pPr>
                      <a:r>
                        <a:rPr lang="en-US" sz="1300" dirty="0">
                          <a:solidFill>
                            <a:srgbClr val="1B1B1B"/>
                          </a:solidFill>
                          <a:latin typeface="Calibri" pitchFamily="34" charset="0"/>
                          <a:ea typeface="Calibri" pitchFamily="34" charset="-122"/>
                          <a:cs typeface="Calibri" pitchFamily="34" charset="-120"/>
                        </a:rPr>
                        <a:t>Member</a:t>
                      </a:r>
                      <a:endParaRPr lang="en-US" sz="1300" dirty="0">
                        <a:latin typeface="Calibri" charset="0"/>
                        <a:ea typeface="Calibri" charset="0"/>
                        <a:cs typeface="Calibri" charset="0"/>
                      </a:endParaRPr>
                    </a:p>
                  </a:txBody>
                  <a:tcPr marL="101600" marR="101600" marT="76200" marB="7620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4F4F4"/>
                    </a:solidFill>
                  </a:tcPr>
                </a:tc>
              </a:tr>
              <a:tr h="438912">
                <a:tc>
                  <a:txBody>
                    <a:bodyPr/>
                    <a:lstStyle/>
                    <a:p>
                      <a:pPr indent="0" marL="0">
                        <a:buNone/>
                      </a:pPr>
                      <a:r>
                        <a:rPr lang="en-US" sz="1300" dirty="0">
                          <a:solidFill>
                            <a:srgbClr val="1B1B1B"/>
                          </a:solidFill>
                          <a:latin typeface="Calibri" pitchFamily="34" charset="0"/>
                          <a:ea typeface="Calibri" pitchFamily="34" charset="-122"/>
                          <a:cs typeface="Calibri" pitchFamily="34" charset="-120"/>
                        </a:rPr>
                        <a:t>S. Haneesh</a:t>
                      </a:r>
                      <a:endParaRPr lang="en-US" sz="1300" dirty="0">
                        <a:latin typeface="Calibri" charset="0"/>
                        <a:ea typeface="Calibri" charset="0"/>
                        <a:cs typeface="Calibri" charset="0"/>
                      </a:endParaRPr>
                    </a:p>
                  </a:txBody>
                  <a:tcPr marL="101600" marR="101600" marT="76200" marB="7620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indent="0" marL="0">
                        <a:buNone/>
                      </a:pPr>
                      <a:r>
                        <a:rPr lang="en-US" sz="1300" dirty="0">
                          <a:solidFill>
                            <a:srgbClr val="1B1B1B"/>
                          </a:solidFill>
                          <a:latin typeface="Calibri" pitchFamily="34" charset="0"/>
                          <a:ea typeface="Calibri" pitchFamily="34" charset="-122"/>
                          <a:cs typeface="Calibri" pitchFamily="34" charset="-120"/>
                        </a:rPr>
                        <a:t>23341A12B0</a:t>
                      </a:r>
                      <a:endParaRPr lang="en-US" sz="1300" dirty="0">
                        <a:latin typeface="Calibri" charset="0"/>
                        <a:ea typeface="Calibri" charset="0"/>
                        <a:cs typeface="Calibri" charset="0"/>
                      </a:endParaRPr>
                    </a:p>
                  </a:txBody>
                  <a:tcPr marL="101600" marR="101600" marT="76200" marB="7620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indent="0" marL="0">
                        <a:buNone/>
                      </a:pPr>
                      <a:r>
                        <a:rPr lang="en-US" sz="1300" dirty="0">
                          <a:solidFill>
                            <a:srgbClr val="1B1B1B"/>
                          </a:solidFill>
                          <a:latin typeface="Calibri" pitchFamily="34" charset="0"/>
                          <a:ea typeface="Calibri" pitchFamily="34" charset="-122"/>
                          <a:cs typeface="Calibri" pitchFamily="34" charset="-120"/>
                        </a:rPr>
                        <a:t>Member</a:t>
                      </a:r>
                      <a:endParaRPr lang="en-US" sz="1300" dirty="0">
                        <a:latin typeface="Calibri" charset="0"/>
                        <a:ea typeface="Calibri" charset="0"/>
                        <a:cs typeface="Calibri" charset="0"/>
                      </a:endParaRPr>
                    </a:p>
                  </a:txBody>
                  <a:tcPr marL="101600" marR="101600" marT="76200" marB="7620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438912">
                <a:tc>
                  <a:txBody>
                    <a:bodyPr/>
                    <a:lstStyle/>
                    <a:p>
                      <a:pPr indent="0" marL="0">
                        <a:buNone/>
                      </a:pPr>
                      <a:r>
                        <a:rPr lang="en-US" sz="1300" dirty="0">
                          <a:solidFill>
                            <a:srgbClr val="1B1B1B"/>
                          </a:solidFill>
                          <a:latin typeface="Calibri" pitchFamily="34" charset="0"/>
                          <a:ea typeface="Calibri" pitchFamily="34" charset="-122"/>
                          <a:cs typeface="Calibri" pitchFamily="34" charset="-120"/>
                        </a:rPr>
                        <a:t>V. Bhargav Raju</a:t>
                      </a:r>
                      <a:endParaRPr lang="en-US" sz="1300" dirty="0">
                        <a:latin typeface="Calibri" charset="0"/>
                        <a:ea typeface="Calibri" charset="0"/>
                        <a:cs typeface="Calibri" charset="0"/>
                      </a:endParaRPr>
                    </a:p>
                  </a:txBody>
                  <a:tcPr marL="101600" marR="101600" marT="76200" marB="7620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4F4F4"/>
                    </a:solidFill>
                  </a:tcPr>
                </a:tc>
                <a:tc>
                  <a:txBody>
                    <a:bodyPr/>
                    <a:lstStyle/>
                    <a:p>
                      <a:pPr indent="0" marL="0">
                        <a:buNone/>
                      </a:pPr>
                      <a:r>
                        <a:rPr lang="en-US" sz="1300" dirty="0">
                          <a:solidFill>
                            <a:srgbClr val="1B1B1B"/>
                          </a:solidFill>
                          <a:latin typeface="Calibri" pitchFamily="34" charset="0"/>
                          <a:ea typeface="Calibri" pitchFamily="34" charset="-122"/>
                          <a:cs typeface="Calibri" pitchFamily="34" charset="-120"/>
                        </a:rPr>
                        <a:t>23341A12C9</a:t>
                      </a:r>
                      <a:endParaRPr lang="en-US" sz="1300" dirty="0">
                        <a:latin typeface="Calibri" charset="0"/>
                        <a:ea typeface="Calibri" charset="0"/>
                        <a:cs typeface="Calibri" charset="0"/>
                      </a:endParaRPr>
                    </a:p>
                  </a:txBody>
                  <a:tcPr marL="101600" marR="101600" marT="76200" marB="7620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4F4F4"/>
                    </a:solidFill>
                  </a:tcPr>
                </a:tc>
                <a:tc>
                  <a:txBody>
                    <a:bodyPr/>
                    <a:lstStyle/>
                    <a:p>
                      <a:pPr indent="0" marL="0">
                        <a:buNone/>
                      </a:pPr>
                      <a:r>
                        <a:rPr lang="en-US" sz="1300" dirty="0">
                          <a:solidFill>
                            <a:srgbClr val="1B1B1B"/>
                          </a:solidFill>
                          <a:latin typeface="Calibri" pitchFamily="34" charset="0"/>
                          <a:ea typeface="Calibri" pitchFamily="34" charset="-122"/>
                          <a:cs typeface="Calibri" pitchFamily="34" charset="-120"/>
                        </a:rPr>
                        <a:t>Member</a:t>
                      </a:r>
                      <a:endParaRPr lang="en-US" sz="1300" dirty="0">
                        <a:latin typeface="Calibri" charset="0"/>
                        <a:ea typeface="Calibri" charset="0"/>
                        <a:cs typeface="Calibri" charset="0"/>
                      </a:endParaRPr>
                    </a:p>
                  </a:txBody>
                  <a:tcPr marL="101600" marR="101600" marT="76200" marB="7620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4F4F4"/>
                    </a:solidFill>
                  </a:tcPr>
                </a:tc>
              </a:tr>
            </a:tbl>
          </a:graphicData>
        </a:graphic>
      </p:graphicFrame>
      <p:sp>
        <p:nvSpPr>
          <p:cNvPr id="5" name="Shape 2"/>
          <p:cNvSpPr/>
          <p:nvPr/>
        </p:nvSpPr>
        <p:spPr>
          <a:xfrm>
            <a:off x="8732520" y="1691640"/>
            <a:ext cx="3017520" cy="4572000"/>
          </a:xfrm>
          <a:prstGeom prst="roundRect">
            <a:avLst>
              <a:gd name="adj" fmla="val 2424"/>
            </a:avLst>
          </a:prstGeom>
          <a:solidFill>
            <a:srgbClr val="F4F4F4"/>
          </a:solidFill>
          <a:ln/>
        </p:spPr>
      </p:sp>
      <p:sp>
        <p:nvSpPr>
          <p:cNvPr id="6" name="Text 3"/>
          <p:cNvSpPr/>
          <p:nvPr/>
        </p:nvSpPr>
        <p:spPr>
          <a:xfrm>
            <a:off x="9006840" y="1874520"/>
            <a:ext cx="2560320" cy="274320"/>
          </a:xfrm>
          <a:prstGeom prst="rect">
            <a:avLst/>
          </a:prstGeom>
          <a:noFill/>
          <a:ln/>
        </p:spPr>
        <p:txBody>
          <a:bodyPr wrap="square" rtlCol="0" anchor="ctr"/>
          <a:lstStyle/>
          <a:p>
            <a:pPr indent="0" marL="0">
              <a:buNone/>
            </a:pPr>
            <a:r>
              <a:rPr lang="en-US" sz="1100" b="1" spc="150" kern="0" dirty="0">
                <a:solidFill>
                  <a:srgbClr val="C1272D"/>
                </a:solidFill>
                <a:latin typeface="Calibri" pitchFamily="34" charset="0"/>
                <a:ea typeface="Calibri" pitchFamily="34" charset="-122"/>
                <a:cs typeface="Calibri" pitchFamily="34" charset="-120"/>
              </a:rPr>
              <a:t>GITHUB REPOSITORIES</a:t>
            </a:r>
            <a:endParaRPr lang="en-US" sz="1100" dirty="0"/>
          </a:p>
        </p:txBody>
      </p:sp>
      <p:sp>
        <p:nvSpPr>
          <p:cNvPr id="7" name="Text 4"/>
          <p:cNvSpPr/>
          <p:nvPr/>
        </p:nvSpPr>
        <p:spPr>
          <a:xfrm>
            <a:off x="9006840" y="2331720"/>
            <a:ext cx="2560320" cy="228600"/>
          </a:xfrm>
          <a:prstGeom prst="rect">
            <a:avLst/>
          </a:prstGeom>
          <a:noFill/>
          <a:ln/>
        </p:spPr>
        <p:txBody>
          <a:bodyPr wrap="square" rtlCol="0" anchor="ctr"/>
          <a:lstStyle/>
          <a:p>
            <a:pPr indent="0" marL="0">
              <a:buNone/>
            </a:pPr>
            <a:r>
              <a:rPr lang="en-US" sz="1100" b="1" dirty="0">
                <a:solidFill>
                  <a:srgbClr val="1B1B1B"/>
                </a:solidFill>
                <a:latin typeface="Calibri" pitchFamily="34" charset="0"/>
                <a:ea typeface="Calibri" pitchFamily="34" charset="-122"/>
                <a:cs typeface="Calibri" pitchFamily="34" charset="-120"/>
              </a:rPr>
              <a:t>L. Pranay</a:t>
            </a:r>
            <a:endParaRPr lang="en-US" sz="1100" dirty="0"/>
          </a:p>
        </p:txBody>
      </p:sp>
      <p:sp>
        <p:nvSpPr>
          <p:cNvPr id="8" name="Text 5"/>
          <p:cNvSpPr/>
          <p:nvPr/>
        </p:nvSpPr>
        <p:spPr>
          <a:xfrm>
            <a:off x="9006840" y="2569464"/>
            <a:ext cx="2560320" cy="502920"/>
          </a:xfrm>
          <a:prstGeom prst="rect">
            <a:avLst/>
          </a:prstGeom>
          <a:noFill/>
          <a:ln/>
        </p:spPr>
        <p:txBody>
          <a:bodyPr wrap="square" rtlCol="0" anchor="ctr"/>
          <a:lstStyle/>
          <a:p>
            <a:pPr indent="0" marL="0">
              <a:lnSpc>
                <a:spcPct val="105000"/>
              </a:lnSpc>
              <a:buNone/>
            </a:pPr>
            <a:r>
              <a:rPr lang="en-US" sz="900" dirty="0">
                <a:solidFill>
                  <a:srgbClr val="6B6B6B"/>
                </a:solidFill>
                <a:latin typeface="Courier New" pitchFamily="34" charset="0"/>
                <a:ea typeface="Courier New" pitchFamily="34" charset="-122"/>
                <a:cs typeface="Courier New" pitchFamily="34" charset="-120"/>
              </a:rPr>
              <a:t>pranaylekkala5390/</a:t>
            </a:r>
            <a:endParaRPr lang="en-US" sz="900" dirty="0"/>
          </a:p>
          <a:p>
            <a:pPr indent="0" marL="0">
              <a:lnSpc>
                <a:spcPct val="105000"/>
              </a:lnSpc>
              <a:buNone/>
            </a:pPr>
            <a:r>
              <a:rPr lang="en-US" sz="900" dirty="0">
                <a:solidFill>
                  <a:srgbClr val="6B6B6B"/>
                </a:solidFill>
                <a:latin typeface="Courier New" pitchFamily="34" charset="0"/>
                <a:ea typeface="Courier New" pitchFamily="34" charset="-122"/>
                <a:cs typeface="Courier New" pitchFamily="34" charset="-120"/>
              </a:rPr>
              <a:t>GenAI-Assignment</a:t>
            </a:r>
            <a:endParaRPr lang="en-US" sz="900" dirty="0"/>
          </a:p>
        </p:txBody>
      </p:sp>
      <p:sp>
        <p:nvSpPr>
          <p:cNvPr id="9" name="Text 6"/>
          <p:cNvSpPr/>
          <p:nvPr/>
        </p:nvSpPr>
        <p:spPr>
          <a:xfrm>
            <a:off x="9006840" y="3319272"/>
            <a:ext cx="2560320" cy="228600"/>
          </a:xfrm>
          <a:prstGeom prst="rect">
            <a:avLst/>
          </a:prstGeom>
          <a:noFill/>
          <a:ln/>
        </p:spPr>
        <p:txBody>
          <a:bodyPr wrap="square" rtlCol="0" anchor="ctr"/>
          <a:lstStyle/>
          <a:p>
            <a:pPr indent="0" marL="0">
              <a:buNone/>
            </a:pPr>
            <a:r>
              <a:rPr lang="en-US" sz="1100" b="1" dirty="0">
                <a:solidFill>
                  <a:srgbClr val="1B1B1B"/>
                </a:solidFill>
                <a:latin typeface="Calibri" pitchFamily="34" charset="0"/>
                <a:ea typeface="Calibri" pitchFamily="34" charset="-122"/>
                <a:cs typeface="Calibri" pitchFamily="34" charset="-120"/>
              </a:rPr>
              <a:t>P. Srikar</a:t>
            </a:r>
            <a:endParaRPr lang="en-US" sz="1100" dirty="0"/>
          </a:p>
        </p:txBody>
      </p:sp>
      <p:sp>
        <p:nvSpPr>
          <p:cNvPr id="10" name="Text 7"/>
          <p:cNvSpPr/>
          <p:nvPr/>
        </p:nvSpPr>
        <p:spPr>
          <a:xfrm>
            <a:off x="9006840" y="3557016"/>
            <a:ext cx="2560320" cy="502920"/>
          </a:xfrm>
          <a:prstGeom prst="rect">
            <a:avLst/>
          </a:prstGeom>
          <a:noFill/>
          <a:ln/>
        </p:spPr>
        <p:txBody>
          <a:bodyPr wrap="square" rtlCol="0" anchor="ctr"/>
          <a:lstStyle/>
          <a:p>
            <a:pPr indent="0" marL="0">
              <a:lnSpc>
                <a:spcPct val="105000"/>
              </a:lnSpc>
              <a:buNone/>
            </a:pPr>
            <a:r>
              <a:rPr lang="en-US" sz="900" dirty="0">
                <a:solidFill>
                  <a:srgbClr val="6B6B6B"/>
                </a:solidFill>
                <a:latin typeface="Courier New" pitchFamily="34" charset="0"/>
                <a:ea typeface="Courier New" pitchFamily="34" charset="-122"/>
                <a:cs typeface="Courier New" pitchFamily="34" charset="-120"/>
              </a:rPr>
              <a:t>srikar0119/</a:t>
            </a:r>
            <a:endParaRPr lang="en-US" sz="900" dirty="0"/>
          </a:p>
          <a:p>
            <a:pPr indent="0" marL="0">
              <a:lnSpc>
                <a:spcPct val="105000"/>
              </a:lnSpc>
              <a:buNone/>
            </a:pPr>
            <a:r>
              <a:rPr lang="en-US" sz="900" dirty="0">
                <a:solidFill>
                  <a:srgbClr val="6B6B6B"/>
                </a:solidFill>
                <a:latin typeface="Courier New" pitchFamily="34" charset="0"/>
                <a:ea typeface="Courier New" pitchFamily="34" charset="-122"/>
                <a:cs typeface="Courier New" pitchFamily="34" charset="-120"/>
              </a:rPr>
              <a:t>GenAI-Assignment</a:t>
            </a:r>
            <a:endParaRPr lang="en-US" sz="900" dirty="0"/>
          </a:p>
        </p:txBody>
      </p:sp>
      <p:sp>
        <p:nvSpPr>
          <p:cNvPr id="11" name="Text 8"/>
          <p:cNvSpPr/>
          <p:nvPr/>
        </p:nvSpPr>
        <p:spPr>
          <a:xfrm>
            <a:off x="9006840" y="4306824"/>
            <a:ext cx="2560320" cy="228600"/>
          </a:xfrm>
          <a:prstGeom prst="rect">
            <a:avLst/>
          </a:prstGeom>
          <a:noFill/>
          <a:ln/>
        </p:spPr>
        <p:txBody>
          <a:bodyPr wrap="square" rtlCol="0" anchor="ctr"/>
          <a:lstStyle/>
          <a:p>
            <a:pPr indent="0" marL="0">
              <a:buNone/>
            </a:pPr>
            <a:r>
              <a:rPr lang="en-US" sz="1100" b="1" dirty="0">
                <a:solidFill>
                  <a:srgbClr val="1B1B1B"/>
                </a:solidFill>
                <a:latin typeface="Calibri" pitchFamily="34" charset="0"/>
                <a:ea typeface="Calibri" pitchFamily="34" charset="-122"/>
                <a:cs typeface="Calibri" pitchFamily="34" charset="-120"/>
              </a:rPr>
              <a:t>S. Haneesh</a:t>
            </a:r>
            <a:endParaRPr lang="en-US" sz="1100" dirty="0"/>
          </a:p>
        </p:txBody>
      </p:sp>
      <p:sp>
        <p:nvSpPr>
          <p:cNvPr id="12" name="Text 9"/>
          <p:cNvSpPr/>
          <p:nvPr/>
        </p:nvSpPr>
        <p:spPr>
          <a:xfrm>
            <a:off x="9006840" y="4544568"/>
            <a:ext cx="2560320" cy="502920"/>
          </a:xfrm>
          <a:prstGeom prst="rect">
            <a:avLst/>
          </a:prstGeom>
          <a:noFill/>
          <a:ln/>
        </p:spPr>
        <p:txBody>
          <a:bodyPr wrap="square" rtlCol="0" anchor="ctr"/>
          <a:lstStyle/>
          <a:p>
            <a:pPr indent="0" marL="0">
              <a:lnSpc>
                <a:spcPct val="105000"/>
              </a:lnSpc>
              <a:buNone/>
            </a:pPr>
            <a:r>
              <a:rPr lang="en-US" sz="900" dirty="0">
                <a:solidFill>
                  <a:srgbClr val="6B6B6B"/>
                </a:solidFill>
                <a:latin typeface="Courier New" pitchFamily="34" charset="0"/>
                <a:ea typeface="Courier New" pitchFamily="34" charset="-122"/>
                <a:cs typeface="Courier New" pitchFamily="34" charset="-120"/>
              </a:rPr>
              <a:t>Haneesh-Srirama/</a:t>
            </a:r>
            <a:endParaRPr lang="en-US" sz="900" dirty="0"/>
          </a:p>
          <a:p>
            <a:pPr indent="0" marL="0">
              <a:lnSpc>
                <a:spcPct val="105000"/>
              </a:lnSpc>
              <a:buNone/>
            </a:pPr>
            <a:r>
              <a:rPr lang="en-US" sz="900" dirty="0">
                <a:solidFill>
                  <a:srgbClr val="6B6B6B"/>
                </a:solidFill>
                <a:latin typeface="Courier New" pitchFamily="34" charset="0"/>
                <a:ea typeface="Courier New" pitchFamily="34" charset="-122"/>
                <a:cs typeface="Courier New" pitchFamily="34" charset="-120"/>
              </a:rPr>
              <a:t>GenAI-Assignments</a:t>
            </a:r>
            <a:endParaRPr lang="en-US" sz="900" dirty="0"/>
          </a:p>
        </p:txBody>
      </p:sp>
      <p:sp>
        <p:nvSpPr>
          <p:cNvPr id="13" name="Text 10"/>
          <p:cNvSpPr/>
          <p:nvPr/>
        </p:nvSpPr>
        <p:spPr>
          <a:xfrm>
            <a:off x="9006840" y="5294376"/>
            <a:ext cx="2560320" cy="228600"/>
          </a:xfrm>
          <a:prstGeom prst="rect">
            <a:avLst/>
          </a:prstGeom>
          <a:noFill/>
          <a:ln/>
        </p:spPr>
        <p:txBody>
          <a:bodyPr wrap="square" rtlCol="0" anchor="ctr"/>
          <a:lstStyle/>
          <a:p>
            <a:pPr indent="0" marL="0">
              <a:buNone/>
            </a:pPr>
            <a:r>
              <a:rPr lang="en-US" sz="1100" b="1" dirty="0">
                <a:solidFill>
                  <a:srgbClr val="1B1B1B"/>
                </a:solidFill>
                <a:latin typeface="Calibri" pitchFamily="34" charset="0"/>
                <a:ea typeface="Calibri" pitchFamily="34" charset="-122"/>
                <a:cs typeface="Calibri" pitchFamily="34" charset="-120"/>
              </a:rPr>
              <a:t>V. Bhargav Raju</a:t>
            </a:r>
            <a:endParaRPr lang="en-US" sz="1100" dirty="0"/>
          </a:p>
        </p:txBody>
      </p:sp>
      <p:sp>
        <p:nvSpPr>
          <p:cNvPr id="14" name="Text 11"/>
          <p:cNvSpPr/>
          <p:nvPr/>
        </p:nvSpPr>
        <p:spPr>
          <a:xfrm>
            <a:off x="9006840" y="5532120"/>
            <a:ext cx="2560320" cy="502920"/>
          </a:xfrm>
          <a:prstGeom prst="rect">
            <a:avLst/>
          </a:prstGeom>
          <a:noFill/>
          <a:ln/>
        </p:spPr>
        <p:txBody>
          <a:bodyPr wrap="square" rtlCol="0" anchor="ctr"/>
          <a:lstStyle/>
          <a:p>
            <a:pPr indent="0" marL="0">
              <a:lnSpc>
                <a:spcPct val="105000"/>
              </a:lnSpc>
              <a:buNone/>
            </a:pPr>
            <a:r>
              <a:rPr lang="en-US" sz="900" dirty="0">
                <a:solidFill>
                  <a:srgbClr val="6B6B6B"/>
                </a:solidFill>
                <a:latin typeface="Courier New" pitchFamily="34" charset="0"/>
                <a:ea typeface="Courier New" pitchFamily="34" charset="-122"/>
                <a:cs typeface="Courier New" pitchFamily="34" charset="-120"/>
              </a:rPr>
              <a:t>bhargav123321/</a:t>
            </a:r>
            <a:endParaRPr lang="en-US" sz="900" dirty="0"/>
          </a:p>
          <a:p>
            <a:pPr indent="0" marL="0">
              <a:lnSpc>
                <a:spcPct val="105000"/>
              </a:lnSpc>
              <a:buNone/>
            </a:pPr>
            <a:r>
              <a:rPr lang="en-US" sz="900" dirty="0">
                <a:solidFill>
                  <a:srgbClr val="6B6B6B"/>
                </a:solidFill>
                <a:latin typeface="Courier New" pitchFamily="34" charset="0"/>
                <a:ea typeface="Courier New" pitchFamily="34" charset="-122"/>
                <a:cs typeface="Courier New" pitchFamily="34" charset="-120"/>
              </a:rPr>
              <a:t>GenAI-Assignments</a:t>
            </a:r>
            <a:endParaRPr lang="en-US" sz="900" dirty="0"/>
          </a:p>
        </p:txBody>
      </p:sp>
      <p:sp>
        <p:nvSpPr>
          <p:cNvPr id="15" name="Text 12"/>
          <p:cNvSpPr/>
          <p:nvPr/>
        </p:nvSpPr>
        <p:spPr>
          <a:xfrm>
            <a:off x="457200" y="6537960"/>
            <a:ext cx="5486400" cy="274320"/>
          </a:xfrm>
          <a:prstGeom prst="rect">
            <a:avLst/>
          </a:prstGeom>
          <a:noFill/>
          <a:ln/>
        </p:spPr>
        <p:txBody>
          <a:bodyPr wrap="square" rtlCol="0" anchor="ctr"/>
          <a:lstStyle/>
          <a:p>
            <a:pPr indent="0" marL="0">
              <a:buNone/>
            </a:pPr>
            <a:r>
              <a:rPr lang="en-US" sz="900" dirty="0">
                <a:solidFill>
                  <a:srgbClr val="6B6B6B"/>
                </a:solidFill>
                <a:latin typeface="Calibri" pitchFamily="34" charset="0"/>
                <a:ea typeface="Calibri" pitchFamily="34" charset="-122"/>
                <a:cs typeface="Calibri" pitchFamily="34" charset="-120"/>
              </a:rPr>
              <a:t>Balaji Fast Food Sales Analysis</a:t>
            </a:r>
            <a:endParaRPr lang="en-US" sz="900" dirty="0"/>
          </a:p>
        </p:txBody>
      </p:sp>
      <p:sp>
        <p:nvSpPr>
          <p:cNvPr id="16" name="Text 13"/>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indent="0" marL="0">
              <a:buNone/>
            </a:pPr>
            <a:r>
              <a:rPr lang="en-US" sz="1300" b="1" spc="200" kern="0" dirty="0">
                <a:solidFill>
                  <a:srgbClr val="C1272D"/>
                </a:solidFill>
                <a:latin typeface="Calibri" pitchFamily="34" charset="0"/>
                <a:ea typeface="Calibri" pitchFamily="34" charset="-122"/>
                <a:cs typeface="Calibri" pitchFamily="34" charset="-120"/>
              </a:rPr>
              <a:t>PROJECT WORKFLOW</a:t>
            </a:r>
            <a:endParaRPr lang="en-US" sz="1300" dirty="0"/>
          </a:p>
        </p:txBody>
      </p:sp>
      <p:sp>
        <p:nvSpPr>
          <p:cNvPr id="3" name="Text 1"/>
          <p:cNvSpPr/>
          <p:nvPr/>
        </p:nvSpPr>
        <p:spPr>
          <a:xfrm>
            <a:off x="548640" y="713232"/>
            <a:ext cx="8229600" cy="640080"/>
          </a:xfrm>
          <a:prstGeom prst="rect">
            <a:avLst/>
          </a:prstGeom>
          <a:noFill/>
          <a:ln/>
        </p:spPr>
        <p:txBody>
          <a:bodyPr wrap="square" rtlCol="0" anchor="ctr"/>
          <a:lstStyle/>
          <a:p>
            <a:pPr indent="0" marL="0">
              <a:buNone/>
            </a:pPr>
            <a:r>
              <a:rPr lang="en-US" sz="3200" b="1" dirty="0">
                <a:solidFill>
                  <a:srgbClr val="1B1B1B"/>
                </a:solidFill>
                <a:latin typeface="Cambria" pitchFamily="34" charset="0"/>
                <a:ea typeface="Cambria" pitchFamily="34" charset="-122"/>
                <a:cs typeface="Cambria" pitchFamily="34" charset="-120"/>
              </a:rPr>
              <a:t>Steps of the Project</a:t>
            </a:r>
            <a:endParaRPr lang="en-US" sz="3200" dirty="0"/>
          </a:p>
        </p:txBody>
      </p:sp>
      <p:sp>
        <p:nvSpPr>
          <p:cNvPr id="4" name="Shape 2"/>
          <p:cNvSpPr/>
          <p:nvPr/>
        </p:nvSpPr>
        <p:spPr>
          <a:xfrm>
            <a:off x="548640" y="1737360"/>
            <a:ext cx="3566160" cy="4206240"/>
          </a:xfrm>
          <a:prstGeom prst="roundRect">
            <a:avLst>
              <a:gd name="adj" fmla="val 2564"/>
            </a:avLst>
          </a:prstGeom>
          <a:solidFill>
            <a:srgbClr val="F4F4F4"/>
          </a:solidFill>
          <a:ln/>
        </p:spPr>
      </p:sp>
      <p:sp>
        <p:nvSpPr>
          <p:cNvPr id="5" name="Shape 3"/>
          <p:cNvSpPr/>
          <p:nvPr/>
        </p:nvSpPr>
        <p:spPr>
          <a:xfrm>
            <a:off x="868680" y="2057400"/>
            <a:ext cx="548640" cy="548640"/>
          </a:xfrm>
          <a:prstGeom prst="ellipse">
            <a:avLst/>
          </a:prstGeom>
          <a:solidFill>
            <a:srgbClr val="C1272D"/>
          </a:solidFill>
          <a:ln/>
        </p:spPr>
      </p:sp>
      <p:sp>
        <p:nvSpPr>
          <p:cNvPr id="6" name="Text 4"/>
          <p:cNvSpPr/>
          <p:nvPr/>
        </p:nvSpPr>
        <p:spPr>
          <a:xfrm>
            <a:off x="868680" y="2057400"/>
            <a:ext cx="548640" cy="54864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822960" y="2788920"/>
            <a:ext cx="3017520" cy="548640"/>
          </a:xfrm>
          <a:prstGeom prst="rect">
            <a:avLst/>
          </a:prstGeom>
          <a:noFill/>
          <a:ln/>
        </p:spPr>
        <p:txBody>
          <a:bodyPr wrap="square" rtlCol="0" anchor="ctr"/>
          <a:lstStyle/>
          <a:p>
            <a:pPr indent="0" marL="0">
              <a:buNone/>
            </a:pPr>
            <a:r>
              <a:rPr lang="en-US" sz="1800" b="1" dirty="0">
                <a:solidFill>
                  <a:srgbClr val="1B1B1B"/>
                </a:solidFill>
                <a:latin typeface="Cambria" pitchFamily="34" charset="0"/>
                <a:ea typeface="Cambria" pitchFamily="34" charset="-122"/>
                <a:cs typeface="Cambria" pitchFamily="34" charset="-120"/>
              </a:rPr>
              <a:t>Data Inspection</a:t>
            </a:r>
            <a:endParaRPr lang="en-US" sz="1800" dirty="0"/>
          </a:p>
        </p:txBody>
      </p:sp>
      <p:sp>
        <p:nvSpPr>
          <p:cNvPr id="8" name="Shape 6"/>
          <p:cNvSpPr/>
          <p:nvPr/>
        </p:nvSpPr>
        <p:spPr>
          <a:xfrm>
            <a:off x="822960" y="3310128"/>
            <a:ext cx="640080" cy="0"/>
          </a:xfrm>
          <a:prstGeom prst="line">
            <a:avLst/>
          </a:prstGeom>
          <a:noFill/>
          <a:ln w="31750">
            <a:solidFill>
              <a:srgbClr val="C1272D"/>
            </a:solidFill>
            <a:prstDash val="solid"/>
          </a:ln>
        </p:spPr>
      </p:sp>
      <p:sp>
        <p:nvSpPr>
          <p:cNvPr id="9" name="Text 7"/>
          <p:cNvSpPr/>
          <p:nvPr/>
        </p:nvSpPr>
        <p:spPr>
          <a:xfrm>
            <a:off x="822960" y="3566160"/>
            <a:ext cx="3017520" cy="2194560"/>
          </a:xfrm>
          <a:prstGeom prst="rect">
            <a:avLst/>
          </a:prstGeom>
          <a:noFill/>
          <a:ln/>
        </p:spPr>
        <p:txBody>
          <a:bodyPr wrap="square" rtlCol="0" anchor="t"/>
          <a:lstStyle/>
          <a:p>
            <a:pPr marL="177800" indent="-177800">
              <a:lnSpc>
                <a:spcPct val="115000"/>
              </a:lnSpc>
              <a:spcAft>
                <a:spcPts val="1200"/>
              </a:spcAft>
              <a:buSzPct val="100000"/>
              <a:buChar char="•"/>
            </a:pPr>
            <a:r>
              <a:rPr lang="en-US" sz="1250" dirty="0">
                <a:solidFill>
                  <a:srgbClr val="1B1B1B"/>
                </a:solidFill>
                <a:latin typeface="Calibri" pitchFamily="34" charset="0"/>
                <a:ea typeface="Calibri" pitchFamily="34" charset="-122"/>
                <a:cs typeface="Calibri" pitchFamily="34" charset="-120"/>
              </a:rPr>
              <a:t>Reviewed dataset shape: 1,000 rows x 10 columns</a:t>
            </a:r>
            <a:endParaRPr lang="en-US" sz="1250" dirty="0"/>
          </a:p>
          <a:p>
            <a:pPr marL="177800" indent="-177800">
              <a:lnSpc>
                <a:spcPct val="115000"/>
              </a:lnSpc>
              <a:spcAft>
                <a:spcPts val="1200"/>
              </a:spcAft>
              <a:buSzPct val="100000"/>
              <a:buChar char="•"/>
            </a:pPr>
            <a:r>
              <a:rPr lang="en-US" sz="1250" dirty="0">
                <a:solidFill>
                  <a:srgbClr val="1B1B1B"/>
                </a:solidFill>
                <a:latin typeface="Calibri" pitchFamily="34" charset="0"/>
                <a:ea typeface="Calibri" pitchFamily="34" charset="-122"/>
                <a:cs typeface="Calibri" pitchFamily="34" charset="-120"/>
              </a:rPr>
              <a:t>Checked column data types and null counts</a:t>
            </a:r>
            <a:endParaRPr lang="en-US" sz="1250" dirty="0"/>
          </a:p>
          <a:p>
            <a:pPr marL="177800" indent="-177800">
              <a:lnSpc>
                <a:spcPct val="115000"/>
              </a:lnSpc>
              <a:spcAft>
                <a:spcPts val="1200"/>
              </a:spcAft>
              <a:buSzPct val="100000"/>
              <a:buChar char="•"/>
            </a:pPr>
            <a:r>
              <a:rPr lang="en-US" sz="1250" dirty="0">
                <a:solidFill>
                  <a:srgbClr val="1B1B1B"/>
                </a:solidFill>
                <a:latin typeface="Calibri" pitchFamily="34" charset="0"/>
                <a:ea typeface="Calibri" pitchFamily="34" charset="-122"/>
                <a:cs typeface="Calibri" pitchFamily="34" charset="-120"/>
              </a:rPr>
              <a:t>Summarized categorical &amp; date columns</a:t>
            </a:r>
            <a:endParaRPr lang="en-US" sz="1250" dirty="0"/>
          </a:p>
        </p:txBody>
      </p:sp>
      <p:sp>
        <p:nvSpPr>
          <p:cNvPr id="10" name="Shape 8"/>
          <p:cNvSpPr/>
          <p:nvPr/>
        </p:nvSpPr>
        <p:spPr>
          <a:xfrm>
            <a:off x="4434840" y="1737360"/>
            <a:ext cx="3566160" cy="4206240"/>
          </a:xfrm>
          <a:prstGeom prst="roundRect">
            <a:avLst>
              <a:gd name="adj" fmla="val 2564"/>
            </a:avLst>
          </a:prstGeom>
          <a:solidFill>
            <a:srgbClr val="F4F4F4"/>
          </a:solidFill>
          <a:ln/>
        </p:spPr>
      </p:sp>
      <p:sp>
        <p:nvSpPr>
          <p:cNvPr id="11" name="Shape 9"/>
          <p:cNvSpPr/>
          <p:nvPr/>
        </p:nvSpPr>
        <p:spPr>
          <a:xfrm>
            <a:off x="4754880" y="2057400"/>
            <a:ext cx="548640" cy="548640"/>
          </a:xfrm>
          <a:prstGeom prst="ellipse">
            <a:avLst/>
          </a:prstGeom>
          <a:solidFill>
            <a:srgbClr val="8C1D22"/>
          </a:solidFill>
          <a:ln/>
        </p:spPr>
      </p:sp>
      <p:sp>
        <p:nvSpPr>
          <p:cNvPr id="12" name="Text 10"/>
          <p:cNvSpPr/>
          <p:nvPr/>
        </p:nvSpPr>
        <p:spPr>
          <a:xfrm>
            <a:off x="4754880" y="2057400"/>
            <a:ext cx="548640" cy="54864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3" name="Text 11"/>
          <p:cNvSpPr/>
          <p:nvPr/>
        </p:nvSpPr>
        <p:spPr>
          <a:xfrm>
            <a:off x="4709160" y="2788920"/>
            <a:ext cx="3017520" cy="548640"/>
          </a:xfrm>
          <a:prstGeom prst="rect">
            <a:avLst/>
          </a:prstGeom>
          <a:noFill/>
          <a:ln/>
        </p:spPr>
        <p:txBody>
          <a:bodyPr wrap="square" rtlCol="0" anchor="ctr"/>
          <a:lstStyle/>
          <a:p>
            <a:pPr indent="0" marL="0">
              <a:buNone/>
            </a:pPr>
            <a:r>
              <a:rPr lang="en-US" sz="1800" b="1" dirty="0">
                <a:solidFill>
                  <a:srgbClr val="1B1B1B"/>
                </a:solidFill>
                <a:latin typeface="Cambria" pitchFamily="34" charset="0"/>
                <a:ea typeface="Cambria" pitchFamily="34" charset="-122"/>
                <a:cs typeface="Cambria" pitchFamily="34" charset="-120"/>
              </a:rPr>
              <a:t>Data Preprocessing</a:t>
            </a:r>
            <a:endParaRPr lang="en-US" sz="1800" dirty="0"/>
          </a:p>
        </p:txBody>
      </p:sp>
      <p:sp>
        <p:nvSpPr>
          <p:cNvPr id="14" name="Shape 12"/>
          <p:cNvSpPr/>
          <p:nvPr/>
        </p:nvSpPr>
        <p:spPr>
          <a:xfrm>
            <a:off x="4709160" y="3310128"/>
            <a:ext cx="640080" cy="0"/>
          </a:xfrm>
          <a:prstGeom prst="line">
            <a:avLst/>
          </a:prstGeom>
          <a:noFill/>
          <a:ln w="31750">
            <a:solidFill>
              <a:srgbClr val="8C1D22"/>
            </a:solidFill>
            <a:prstDash val="solid"/>
          </a:ln>
        </p:spPr>
      </p:sp>
      <p:sp>
        <p:nvSpPr>
          <p:cNvPr id="15" name="Text 13"/>
          <p:cNvSpPr/>
          <p:nvPr/>
        </p:nvSpPr>
        <p:spPr>
          <a:xfrm>
            <a:off x="4709160" y="3566160"/>
            <a:ext cx="3017520" cy="2194560"/>
          </a:xfrm>
          <a:prstGeom prst="rect">
            <a:avLst/>
          </a:prstGeom>
          <a:noFill/>
          <a:ln/>
        </p:spPr>
        <p:txBody>
          <a:bodyPr wrap="square" rtlCol="0" anchor="t"/>
          <a:lstStyle/>
          <a:p>
            <a:pPr marL="177800" indent="-177800">
              <a:lnSpc>
                <a:spcPct val="115000"/>
              </a:lnSpc>
              <a:spcAft>
                <a:spcPts val="1200"/>
              </a:spcAft>
              <a:buSzPct val="100000"/>
              <a:buChar char="•"/>
            </a:pPr>
            <a:r>
              <a:rPr lang="en-US" sz="1250" dirty="0">
                <a:solidFill>
                  <a:srgbClr val="1B1B1B"/>
                </a:solidFill>
                <a:latin typeface="Calibri" pitchFamily="34" charset="0"/>
                <a:ea typeface="Calibri" pitchFamily="34" charset="-122"/>
                <a:cs typeface="Calibri" pitchFamily="34" charset="-120"/>
              </a:rPr>
              <a:t>Verified no missing values or duplicate rows</a:t>
            </a:r>
            <a:endParaRPr lang="en-US" sz="1250" dirty="0"/>
          </a:p>
          <a:p>
            <a:pPr marL="177800" indent="-177800">
              <a:lnSpc>
                <a:spcPct val="115000"/>
              </a:lnSpc>
              <a:spcAft>
                <a:spcPts val="1200"/>
              </a:spcAft>
              <a:buSzPct val="100000"/>
              <a:buChar char="•"/>
            </a:pPr>
            <a:r>
              <a:rPr lang="en-US" sz="1250" dirty="0">
                <a:solidFill>
                  <a:srgbClr val="1B1B1B"/>
                </a:solidFill>
                <a:latin typeface="Calibri" pitchFamily="34" charset="0"/>
                <a:ea typeface="Calibri" pitchFamily="34" charset="-122"/>
                <a:cs typeface="Calibri" pitchFamily="34" charset="-120"/>
              </a:rPr>
              <a:t>Converted date column to datetime format</a:t>
            </a:r>
            <a:endParaRPr lang="en-US" sz="1250" dirty="0"/>
          </a:p>
          <a:p>
            <a:pPr marL="177800" indent="-177800">
              <a:lnSpc>
                <a:spcPct val="115000"/>
              </a:lnSpc>
              <a:spcAft>
                <a:spcPts val="1200"/>
              </a:spcAft>
              <a:buSzPct val="100000"/>
              <a:buChar char="•"/>
            </a:pPr>
            <a:r>
              <a:rPr lang="en-US" sz="1250" dirty="0">
                <a:solidFill>
                  <a:srgbClr val="1B1B1B"/>
                </a:solidFill>
                <a:latin typeface="Calibri" pitchFamily="34" charset="0"/>
                <a:ea typeface="Calibri" pitchFamily="34" charset="-122"/>
                <a:cs typeface="Calibri" pitchFamily="34" charset="-120"/>
              </a:rPr>
              <a:t>Validated transaction amounts &amp; flagged outliers</a:t>
            </a:r>
            <a:endParaRPr lang="en-US" sz="1250" dirty="0"/>
          </a:p>
        </p:txBody>
      </p:sp>
      <p:sp>
        <p:nvSpPr>
          <p:cNvPr id="16" name="Shape 14"/>
          <p:cNvSpPr/>
          <p:nvPr/>
        </p:nvSpPr>
        <p:spPr>
          <a:xfrm>
            <a:off x="8321040" y="1737360"/>
            <a:ext cx="3566160" cy="4206240"/>
          </a:xfrm>
          <a:prstGeom prst="roundRect">
            <a:avLst>
              <a:gd name="adj" fmla="val 2564"/>
            </a:avLst>
          </a:prstGeom>
          <a:solidFill>
            <a:srgbClr val="F4F4F4"/>
          </a:solidFill>
          <a:ln/>
        </p:spPr>
      </p:sp>
      <p:sp>
        <p:nvSpPr>
          <p:cNvPr id="17" name="Shape 15"/>
          <p:cNvSpPr/>
          <p:nvPr/>
        </p:nvSpPr>
        <p:spPr>
          <a:xfrm>
            <a:off x="8641080" y="2057400"/>
            <a:ext cx="548640" cy="548640"/>
          </a:xfrm>
          <a:prstGeom prst="ellipse">
            <a:avLst/>
          </a:prstGeom>
          <a:solidFill>
            <a:srgbClr val="F4A300"/>
          </a:solidFill>
          <a:ln/>
        </p:spPr>
      </p:sp>
      <p:sp>
        <p:nvSpPr>
          <p:cNvPr id="18" name="Text 16"/>
          <p:cNvSpPr/>
          <p:nvPr/>
        </p:nvSpPr>
        <p:spPr>
          <a:xfrm>
            <a:off x="8641080" y="2057400"/>
            <a:ext cx="548640" cy="54864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9" name="Text 17"/>
          <p:cNvSpPr/>
          <p:nvPr/>
        </p:nvSpPr>
        <p:spPr>
          <a:xfrm>
            <a:off x="8595360" y="2788920"/>
            <a:ext cx="3017520" cy="548640"/>
          </a:xfrm>
          <a:prstGeom prst="rect">
            <a:avLst/>
          </a:prstGeom>
          <a:noFill/>
          <a:ln/>
        </p:spPr>
        <p:txBody>
          <a:bodyPr wrap="square" rtlCol="0" anchor="ctr"/>
          <a:lstStyle/>
          <a:p>
            <a:pPr indent="0" marL="0">
              <a:buNone/>
            </a:pPr>
            <a:r>
              <a:rPr lang="en-US" sz="1800" b="1" dirty="0">
                <a:solidFill>
                  <a:srgbClr val="1B1B1B"/>
                </a:solidFill>
                <a:latin typeface="Cambria" pitchFamily="34" charset="0"/>
                <a:ea typeface="Cambria" pitchFamily="34" charset="-122"/>
                <a:cs typeface="Cambria" pitchFamily="34" charset="-120"/>
              </a:rPr>
              <a:t>Data Visualization</a:t>
            </a:r>
            <a:endParaRPr lang="en-US" sz="1800" dirty="0"/>
          </a:p>
        </p:txBody>
      </p:sp>
      <p:sp>
        <p:nvSpPr>
          <p:cNvPr id="20" name="Shape 18"/>
          <p:cNvSpPr/>
          <p:nvPr/>
        </p:nvSpPr>
        <p:spPr>
          <a:xfrm>
            <a:off x="8595360" y="3310128"/>
            <a:ext cx="640080" cy="0"/>
          </a:xfrm>
          <a:prstGeom prst="line">
            <a:avLst/>
          </a:prstGeom>
          <a:noFill/>
          <a:ln w="31750">
            <a:solidFill>
              <a:srgbClr val="F4A300"/>
            </a:solidFill>
            <a:prstDash val="solid"/>
          </a:ln>
        </p:spPr>
      </p:sp>
      <p:sp>
        <p:nvSpPr>
          <p:cNvPr id="21" name="Text 19"/>
          <p:cNvSpPr/>
          <p:nvPr/>
        </p:nvSpPr>
        <p:spPr>
          <a:xfrm>
            <a:off x="8595360" y="3566160"/>
            <a:ext cx="3017520" cy="2194560"/>
          </a:xfrm>
          <a:prstGeom prst="rect">
            <a:avLst/>
          </a:prstGeom>
          <a:noFill/>
          <a:ln/>
        </p:spPr>
        <p:txBody>
          <a:bodyPr wrap="square" rtlCol="0" anchor="t"/>
          <a:lstStyle/>
          <a:p>
            <a:pPr marL="177800" indent="-177800">
              <a:lnSpc>
                <a:spcPct val="115000"/>
              </a:lnSpc>
              <a:spcAft>
                <a:spcPts val="1200"/>
              </a:spcAft>
              <a:buSzPct val="100000"/>
              <a:buChar char="•"/>
            </a:pPr>
            <a:r>
              <a:rPr lang="en-US" sz="1250" dirty="0">
                <a:solidFill>
                  <a:srgbClr val="1B1B1B"/>
                </a:solidFill>
                <a:latin typeface="Calibri" pitchFamily="34" charset="0"/>
                <a:ea typeface="Calibri" pitchFamily="34" charset="-122"/>
                <a:cs typeface="Calibri" pitchFamily="34" charset="-120"/>
              </a:rPr>
              <a:t>Built 9 charts: bar, pie, line, histogram, box plot</a:t>
            </a:r>
            <a:endParaRPr lang="en-US" sz="1250" dirty="0"/>
          </a:p>
          <a:p>
            <a:pPr marL="177800" indent="-177800">
              <a:lnSpc>
                <a:spcPct val="115000"/>
              </a:lnSpc>
              <a:spcAft>
                <a:spcPts val="1200"/>
              </a:spcAft>
              <a:buSzPct val="100000"/>
              <a:buChar char="•"/>
            </a:pPr>
            <a:r>
              <a:rPr lang="en-US" sz="1250" dirty="0">
                <a:solidFill>
                  <a:srgbClr val="1B1B1B"/>
                </a:solidFill>
                <a:latin typeface="Calibri" pitchFamily="34" charset="0"/>
                <a:ea typeface="Calibri" pitchFamily="34" charset="-122"/>
                <a:cs typeface="Calibri" pitchFamily="34" charset="-120"/>
              </a:rPr>
              <a:t>Analyzed sales by product, type, time &amp; staff</a:t>
            </a:r>
            <a:endParaRPr lang="en-US" sz="1250" dirty="0"/>
          </a:p>
          <a:p>
            <a:pPr marL="177800" indent="-177800">
              <a:lnSpc>
                <a:spcPct val="115000"/>
              </a:lnSpc>
              <a:spcAft>
                <a:spcPts val="1200"/>
              </a:spcAft>
              <a:buSzPct val="100000"/>
              <a:buChar char="•"/>
            </a:pPr>
            <a:r>
              <a:rPr lang="en-US" sz="1250" dirty="0">
                <a:solidFill>
                  <a:srgbClr val="1B1B1B"/>
                </a:solidFill>
                <a:latin typeface="Calibri" pitchFamily="34" charset="0"/>
                <a:ea typeface="Calibri" pitchFamily="34" charset="-122"/>
                <a:cs typeface="Calibri" pitchFamily="34" charset="-120"/>
              </a:rPr>
              <a:t>Identified trends, top performers &amp; outliers</a:t>
            </a:r>
            <a:endParaRPr lang="en-US" sz="1250" dirty="0"/>
          </a:p>
        </p:txBody>
      </p:sp>
      <p:sp>
        <p:nvSpPr>
          <p:cNvPr id="22" name="Text 20"/>
          <p:cNvSpPr/>
          <p:nvPr/>
        </p:nvSpPr>
        <p:spPr>
          <a:xfrm>
            <a:off x="457200" y="6537960"/>
            <a:ext cx="5486400" cy="274320"/>
          </a:xfrm>
          <a:prstGeom prst="rect">
            <a:avLst/>
          </a:prstGeom>
          <a:noFill/>
          <a:ln/>
        </p:spPr>
        <p:txBody>
          <a:bodyPr wrap="square" rtlCol="0" anchor="ctr"/>
          <a:lstStyle/>
          <a:p>
            <a:pPr indent="0" marL="0">
              <a:buNone/>
            </a:pPr>
            <a:r>
              <a:rPr lang="en-US" sz="900" dirty="0">
                <a:solidFill>
                  <a:srgbClr val="6B6B6B"/>
                </a:solidFill>
                <a:latin typeface="Calibri" pitchFamily="34" charset="0"/>
                <a:ea typeface="Calibri" pitchFamily="34" charset="-122"/>
                <a:cs typeface="Calibri" pitchFamily="34" charset="-120"/>
              </a:rPr>
              <a:t>Balaji Fast Food Sales Analysis</a:t>
            </a:r>
            <a:endParaRPr lang="en-US" sz="900" dirty="0"/>
          </a:p>
        </p:txBody>
      </p:sp>
      <p:sp>
        <p:nvSpPr>
          <p:cNvPr id="23" name="Text 21"/>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indent="0" marL="0">
              <a:buNone/>
            </a:pPr>
            <a:r>
              <a:rPr lang="en-US" sz="1300" b="1" spc="200" kern="0" dirty="0">
                <a:solidFill>
                  <a:srgbClr val="C1272D"/>
                </a:solidFill>
                <a:latin typeface="Calibri" pitchFamily="34" charset="0"/>
                <a:ea typeface="Calibri" pitchFamily="34" charset="-122"/>
                <a:cs typeface="Calibri" pitchFamily="34" charset="-120"/>
              </a:rPr>
              <a:t>STEP 1</a:t>
            </a:r>
            <a:endParaRPr lang="en-US" sz="1300" dirty="0"/>
          </a:p>
        </p:txBody>
      </p:sp>
      <p:sp>
        <p:nvSpPr>
          <p:cNvPr id="3" name="Text 1"/>
          <p:cNvSpPr/>
          <p:nvPr/>
        </p:nvSpPr>
        <p:spPr>
          <a:xfrm>
            <a:off x="548640" y="713232"/>
            <a:ext cx="8229600" cy="640080"/>
          </a:xfrm>
          <a:prstGeom prst="rect">
            <a:avLst/>
          </a:prstGeom>
          <a:noFill/>
          <a:ln/>
        </p:spPr>
        <p:txBody>
          <a:bodyPr wrap="square" rtlCol="0" anchor="ctr"/>
          <a:lstStyle/>
          <a:p>
            <a:pPr indent="0" marL="0">
              <a:buNone/>
            </a:pPr>
            <a:r>
              <a:rPr lang="en-US" sz="3200" b="1" dirty="0">
                <a:solidFill>
                  <a:srgbClr val="1B1B1B"/>
                </a:solidFill>
                <a:latin typeface="Cambria" pitchFamily="34" charset="0"/>
                <a:ea typeface="Cambria" pitchFamily="34" charset="-122"/>
                <a:cs typeface="Cambria" pitchFamily="34" charset="-120"/>
              </a:rPr>
              <a:t>Data Inspection</a:t>
            </a:r>
            <a:endParaRPr lang="en-US" sz="3200" dirty="0"/>
          </a:p>
        </p:txBody>
      </p:sp>
      <p:sp>
        <p:nvSpPr>
          <p:cNvPr id="4" name="Shape 2"/>
          <p:cNvSpPr/>
          <p:nvPr/>
        </p:nvSpPr>
        <p:spPr>
          <a:xfrm>
            <a:off x="548640" y="1783080"/>
            <a:ext cx="2514600" cy="1188720"/>
          </a:xfrm>
          <a:prstGeom prst="roundRect">
            <a:avLst>
              <a:gd name="adj" fmla="val 6154"/>
            </a:avLst>
          </a:prstGeom>
          <a:solidFill>
            <a:srgbClr val="C1272D"/>
          </a:solidFill>
          <a:ln/>
        </p:spPr>
      </p:sp>
      <p:sp>
        <p:nvSpPr>
          <p:cNvPr id="5" name="Text 3"/>
          <p:cNvSpPr/>
          <p:nvPr/>
        </p:nvSpPr>
        <p:spPr>
          <a:xfrm>
            <a:off x="548640" y="1892808"/>
            <a:ext cx="2514600" cy="64008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1,000</a:t>
            </a:r>
            <a:endParaRPr lang="en-US" sz="3000" dirty="0"/>
          </a:p>
        </p:txBody>
      </p:sp>
      <p:sp>
        <p:nvSpPr>
          <p:cNvPr id="6" name="Text 4"/>
          <p:cNvSpPr/>
          <p:nvPr/>
        </p:nvSpPr>
        <p:spPr>
          <a:xfrm>
            <a:off x="548640" y="2560320"/>
            <a:ext cx="2514600" cy="320040"/>
          </a:xfrm>
          <a:prstGeom prst="rect">
            <a:avLst/>
          </a:prstGeom>
          <a:noFill/>
          <a:ln/>
        </p:spPr>
        <p:txBody>
          <a:bodyPr wrap="square" rtlCol="0" anchor="ctr"/>
          <a:lstStyle/>
          <a:p>
            <a:pPr algn="ctr" indent="0" marL="0">
              <a:buNone/>
            </a:pPr>
            <a:r>
              <a:rPr lang="en-US" sz="1200" dirty="0">
                <a:solidFill>
                  <a:srgbClr val="F5D9D7"/>
                </a:solidFill>
                <a:latin typeface="Calibri" pitchFamily="34" charset="0"/>
                <a:ea typeface="Calibri" pitchFamily="34" charset="-122"/>
                <a:cs typeface="Calibri" pitchFamily="34" charset="-120"/>
              </a:rPr>
              <a:t>Rows</a:t>
            </a:r>
            <a:endParaRPr lang="en-US" sz="1200" dirty="0"/>
          </a:p>
        </p:txBody>
      </p:sp>
      <p:sp>
        <p:nvSpPr>
          <p:cNvPr id="7" name="Shape 5"/>
          <p:cNvSpPr/>
          <p:nvPr/>
        </p:nvSpPr>
        <p:spPr>
          <a:xfrm>
            <a:off x="3246120" y="1783080"/>
            <a:ext cx="2514600" cy="1188720"/>
          </a:xfrm>
          <a:prstGeom prst="roundRect">
            <a:avLst>
              <a:gd name="adj" fmla="val 6154"/>
            </a:avLst>
          </a:prstGeom>
          <a:solidFill>
            <a:srgbClr val="F4F4F4"/>
          </a:solidFill>
          <a:ln/>
        </p:spPr>
      </p:sp>
      <p:sp>
        <p:nvSpPr>
          <p:cNvPr id="8" name="Text 6"/>
          <p:cNvSpPr/>
          <p:nvPr/>
        </p:nvSpPr>
        <p:spPr>
          <a:xfrm>
            <a:off x="3246120" y="1892808"/>
            <a:ext cx="2514600" cy="640080"/>
          </a:xfrm>
          <a:prstGeom prst="rect">
            <a:avLst/>
          </a:prstGeom>
          <a:noFill/>
          <a:ln/>
        </p:spPr>
        <p:txBody>
          <a:bodyPr wrap="square" rtlCol="0" anchor="ctr"/>
          <a:lstStyle/>
          <a:p>
            <a:pPr algn="ctr" indent="0" marL="0">
              <a:buNone/>
            </a:pPr>
            <a:r>
              <a:rPr lang="en-US" sz="3000" b="1" dirty="0">
                <a:solidFill>
                  <a:srgbClr val="C1272D"/>
                </a:solidFill>
                <a:latin typeface="Cambria" pitchFamily="34" charset="0"/>
                <a:ea typeface="Cambria" pitchFamily="34" charset="-122"/>
                <a:cs typeface="Cambria" pitchFamily="34" charset="-120"/>
              </a:rPr>
              <a:t>10</a:t>
            </a:r>
            <a:endParaRPr lang="en-US" sz="3000" dirty="0"/>
          </a:p>
        </p:txBody>
      </p:sp>
      <p:sp>
        <p:nvSpPr>
          <p:cNvPr id="9" name="Text 7"/>
          <p:cNvSpPr/>
          <p:nvPr/>
        </p:nvSpPr>
        <p:spPr>
          <a:xfrm>
            <a:off x="3246120" y="2560320"/>
            <a:ext cx="2514600" cy="320040"/>
          </a:xfrm>
          <a:prstGeom prst="rect">
            <a:avLst/>
          </a:prstGeom>
          <a:noFill/>
          <a:ln/>
        </p:spPr>
        <p:txBody>
          <a:bodyPr wrap="square" rtlCol="0" anchor="ctr"/>
          <a:lstStyle/>
          <a:p>
            <a:pPr algn="ctr" indent="0" marL="0">
              <a:buNone/>
            </a:pPr>
            <a:r>
              <a:rPr lang="en-US" sz="1200" dirty="0">
                <a:solidFill>
                  <a:srgbClr val="6B6B6B"/>
                </a:solidFill>
                <a:latin typeface="Calibri" pitchFamily="34" charset="0"/>
                <a:ea typeface="Calibri" pitchFamily="34" charset="-122"/>
                <a:cs typeface="Calibri" pitchFamily="34" charset="-120"/>
              </a:rPr>
              <a:t>Columns</a:t>
            </a:r>
            <a:endParaRPr lang="en-US" sz="1200" dirty="0"/>
          </a:p>
        </p:txBody>
      </p:sp>
      <p:sp>
        <p:nvSpPr>
          <p:cNvPr id="10" name="Shape 8"/>
          <p:cNvSpPr/>
          <p:nvPr/>
        </p:nvSpPr>
        <p:spPr>
          <a:xfrm>
            <a:off x="5943600" y="1783080"/>
            <a:ext cx="2514600" cy="1188720"/>
          </a:xfrm>
          <a:prstGeom prst="roundRect">
            <a:avLst>
              <a:gd name="adj" fmla="val 6154"/>
            </a:avLst>
          </a:prstGeom>
          <a:solidFill>
            <a:srgbClr val="F4F4F4"/>
          </a:solidFill>
          <a:ln/>
        </p:spPr>
      </p:sp>
      <p:sp>
        <p:nvSpPr>
          <p:cNvPr id="11" name="Text 9"/>
          <p:cNvSpPr/>
          <p:nvPr/>
        </p:nvSpPr>
        <p:spPr>
          <a:xfrm>
            <a:off x="5943600" y="1892808"/>
            <a:ext cx="2514600" cy="640080"/>
          </a:xfrm>
          <a:prstGeom prst="rect">
            <a:avLst/>
          </a:prstGeom>
          <a:noFill/>
          <a:ln/>
        </p:spPr>
        <p:txBody>
          <a:bodyPr wrap="square" rtlCol="0" anchor="ctr"/>
          <a:lstStyle/>
          <a:p>
            <a:pPr algn="ctr" indent="0" marL="0">
              <a:buNone/>
            </a:pPr>
            <a:r>
              <a:rPr lang="en-US" sz="3000" b="1" dirty="0">
                <a:solidFill>
                  <a:srgbClr val="C1272D"/>
                </a:solidFill>
                <a:latin typeface="Cambria" pitchFamily="34" charset="0"/>
                <a:ea typeface="Cambria" pitchFamily="34" charset="-122"/>
                <a:cs typeface="Cambria" pitchFamily="34" charset="-120"/>
              </a:rPr>
              <a:t>0</a:t>
            </a:r>
            <a:endParaRPr lang="en-US" sz="3000" dirty="0"/>
          </a:p>
        </p:txBody>
      </p:sp>
      <p:sp>
        <p:nvSpPr>
          <p:cNvPr id="12" name="Text 10"/>
          <p:cNvSpPr/>
          <p:nvPr/>
        </p:nvSpPr>
        <p:spPr>
          <a:xfrm>
            <a:off x="5943600" y="2560320"/>
            <a:ext cx="2514600" cy="320040"/>
          </a:xfrm>
          <a:prstGeom prst="rect">
            <a:avLst/>
          </a:prstGeom>
          <a:noFill/>
          <a:ln/>
        </p:spPr>
        <p:txBody>
          <a:bodyPr wrap="square" rtlCol="0" anchor="ctr"/>
          <a:lstStyle/>
          <a:p>
            <a:pPr algn="ctr" indent="0" marL="0">
              <a:buNone/>
            </a:pPr>
            <a:r>
              <a:rPr lang="en-US" sz="1200" dirty="0">
                <a:solidFill>
                  <a:srgbClr val="6B6B6B"/>
                </a:solidFill>
                <a:latin typeface="Calibri" pitchFamily="34" charset="0"/>
                <a:ea typeface="Calibri" pitchFamily="34" charset="-122"/>
                <a:cs typeface="Calibri" pitchFamily="34" charset="-120"/>
              </a:rPr>
              <a:t>Duplicates</a:t>
            </a:r>
            <a:endParaRPr lang="en-US" sz="1200" dirty="0"/>
          </a:p>
        </p:txBody>
      </p:sp>
      <p:sp>
        <p:nvSpPr>
          <p:cNvPr id="13" name="Shape 11"/>
          <p:cNvSpPr/>
          <p:nvPr/>
        </p:nvSpPr>
        <p:spPr>
          <a:xfrm>
            <a:off x="8641080" y="1783080"/>
            <a:ext cx="2514600" cy="1188720"/>
          </a:xfrm>
          <a:prstGeom prst="roundRect">
            <a:avLst>
              <a:gd name="adj" fmla="val 6154"/>
            </a:avLst>
          </a:prstGeom>
          <a:solidFill>
            <a:srgbClr val="F4F4F4"/>
          </a:solidFill>
          <a:ln/>
        </p:spPr>
      </p:sp>
      <p:sp>
        <p:nvSpPr>
          <p:cNvPr id="14" name="Text 12"/>
          <p:cNvSpPr/>
          <p:nvPr/>
        </p:nvSpPr>
        <p:spPr>
          <a:xfrm>
            <a:off x="8641080" y="1892808"/>
            <a:ext cx="2514600" cy="640080"/>
          </a:xfrm>
          <a:prstGeom prst="rect">
            <a:avLst/>
          </a:prstGeom>
          <a:noFill/>
          <a:ln/>
        </p:spPr>
        <p:txBody>
          <a:bodyPr wrap="square" rtlCol="0" anchor="ctr"/>
          <a:lstStyle/>
          <a:p>
            <a:pPr algn="ctr" indent="0" marL="0">
              <a:buNone/>
            </a:pPr>
            <a:r>
              <a:rPr lang="en-US" sz="3000" b="1" dirty="0">
                <a:solidFill>
                  <a:srgbClr val="C1272D"/>
                </a:solidFill>
                <a:latin typeface="Cambria" pitchFamily="34" charset="0"/>
                <a:ea typeface="Cambria" pitchFamily="34" charset="-122"/>
                <a:cs typeface="Cambria" pitchFamily="34" charset="-120"/>
              </a:rPr>
              <a:t>348</a:t>
            </a:r>
            <a:endParaRPr lang="en-US" sz="3000" dirty="0"/>
          </a:p>
        </p:txBody>
      </p:sp>
      <p:sp>
        <p:nvSpPr>
          <p:cNvPr id="15" name="Text 13"/>
          <p:cNvSpPr/>
          <p:nvPr/>
        </p:nvSpPr>
        <p:spPr>
          <a:xfrm>
            <a:off x="8641080" y="2560320"/>
            <a:ext cx="2514600" cy="320040"/>
          </a:xfrm>
          <a:prstGeom prst="rect">
            <a:avLst/>
          </a:prstGeom>
          <a:noFill/>
          <a:ln/>
        </p:spPr>
        <p:txBody>
          <a:bodyPr wrap="square" rtlCol="0" anchor="ctr"/>
          <a:lstStyle/>
          <a:p>
            <a:pPr algn="ctr" indent="0" marL="0">
              <a:buNone/>
            </a:pPr>
            <a:r>
              <a:rPr lang="en-US" sz="1200" dirty="0">
                <a:solidFill>
                  <a:srgbClr val="6B6B6B"/>
                </a:solidFill>
                <a:latin typeface="Calibri" pitchFamily="34" charset="0"/>
                <a:ea typeface="Calibri" pitchFamily="34" charset="-122"/>
                <a:cs typeface="Calibri" pitchFamily="34" charset="-120"/>
              </a:rPr>
              <a:t>Unique Dates</a:t>
            </a:r>
            <a:endParaRPr lang="en-US" sz="1200" dirty="0"/>
          </a:p>
        </p:txBody>
      </p:sp>
      <p:sp>
        <p:nvSpPr>
          <p:cNvPr id="16" name="Text 14"/>
          <p:cNvSpPr/>
          <p:nvPr/>
        </p:nvSpPr>
        <p:spPr>
          <a:xfrm>
            <a:off x="548640" y="3246120"/>
            <a:ext cx="5394960" cy="320040"/>
          </a:xfrm>
          <a:prstGeom prst="rect">
            <a:avLst/>
          </a:prstGeom>
          <a:noFill/>
          <a:ln/>
        </p:spPr>
        <p:txBody>
          <a:bodyPr wrap="square" rtlCol="0" anchor="ctr"/>
          <a:lstStyle/>
          <a:p>
            <a:pPr indent="0" marL="0">
              <a:buNone/>
            </a:pPr>
            <a:r>
              <a:rPr lang="en-US" sz="1500" b="1" dirty="0">
                <a:solidFill>
                  <a:srgbClr val="1B1B1B"/>
                </a:solidFill>
                <a:latin typeface="Cambria" pitchFamily="34" charset="0"/>
                <a:ea typeface="Cambria" pitchFamily="34" charset="-122"/>
                <a:cs typeface="Cambria" pitchFamily="34" charset="-120"/>
              </a:rPr>
              <a:t>Dataset Structure</a:t>
            </a:r>
            <a:endParaRPr lang="en-US" sz="1500" dirty="0"/>
          </a:p>
        </p:txBody>
      </p:sp>
      <p:sp>
        <p:nvSpPr>
          <p:cNvPr id="17" name="Text 15"/>
          <p:cNvSpPr/>
          <p:nvPr/>
        </p:nvSpPr>
        <p:spPr>
          <a:xfrm>
            <a:off x="548640" y="3611880"/>
            <a:ext cx="5394960" cy="2743200"/>
          </a:xfrm>
          <a:prstGeom prst="rect">
            <a:avLst/>
          </a:prstGeom>
          <a:noFill/>
          <a:ln/>
        </p:spPr>
        <p:txBody>
          <a:bodyPr wrap="square" rtlCol="0" anchor="t"/>
          <a:lstStyle/>
          <a:p>
            <a:pPr marL="342900" indent="-342900">
              <a:lnSpc>
                <a:spcPct val="120000"/>
              </a:lnSpc>
              <a:spcAft>
                <a:spcPts val="1400"/>
              </a:spcAft>
              <a:buSzPct val="100000"/>
              <a:buChar char="•"/>
            </a:pPr>
            <a:r>
              <a:rPr lang="en-US" sz="1250" dirty="0">
                <a:solidFill>
                  <a:srgbClr val="1B1B1B"/>
                </a:solidFill>
                <a:latin typeface="Calibri" pitchFamily="34" charset="0"/>
                <a:ea typeface="Calibri" pitchFamily="34" charset="-122"/>
                <a:cs typeface="Calibri" pitchFamily="34" charset="-120"/>
              </a:rPr>
              <a:t>10 columns: order_id, date, item_name, item_type, item_price, quantity, transaction_amount, transaction_type, received_by, time_of_sale</a:t>
            </a:r>
            <a:endParaRPr lang="en-US" sz="1250" dirty="0"/>
          </a:p>
          <a:p>
            <a:pPr marL="342900" indent="-342900">
              <a:lnSpc>
                <a:spcPct val="120000"/>
              </a:lnSpc>
              <a:spcAft>
                <a:spcPts val="1400"/>
              </a:spcAft>
              <a:buSzPct val="100000"/>
              <a:buChar char="•"/>
            </a:pPr>
            <a:r>
              <a:rPr lang="en-US" sz="1250" dirty="0">
                <a:solidFill>
                  <a:srgbClr val="1B1B1B"/>
                </a:solidFill>
                <a:latin typeface="Calibri" pitchFamily="34" charset="0"/>
                <a:ea typeface="Calibri" pitchFamily="34" charset="-122"/>
                <a:cs typeface="Calibri" pitchFamily="34" charset="-120"/>
              </a:rPr>
              <a:t>transaction_type had 893 of 1,000 non-null values; all other columns fully populated</a:t>
            </a:r>
            <a:endParaRPr lang="en-US" sz="1250" dirty="0"/>
          </a:p>
        </p:txBody>
      </p:sp>
      <p:sp>
        <p:nvSpPr>
          <p:cNvPr id="18" name="Text 16"/>
          <p:cNvSpPr/>
          <p:nvPr/>
        </p:nvSpPr>
        <p:spPr>
          <a:xfrm>
            <a:off x="6263640" y="3246120"/>
            <a:ext cx="5394960" cy="320040"/>
          </a:xfrm>
          <a:prstGeom prst="rect">
            <a:avLst/>
          </a:prstGeom>
          <a:noFill/>
          <a:ln/>
        </p:spPr>
        <p:txBody>
          <a:bodyPr wrap="square" rtlCol="0" anchor="ctr"/>
          <a:lstStyle/>
          <a:p>
            <a:pPr indent="0" marL="0">
              <a:buNone/>
            </a:pPr>
            <a:r>
              <a:rPr lang="en-US" sz="1500" b="1" dirty="0">
                <a:solidFill>
                  <a:srgbClr val="1B1B1B"/>
                </a:solidFill>
                <a:latin typeface="Cambria" pitchFamily="34" charset="0"/>
                <a:ea typeface="Cambria" pitchFamily="34" charset="-122"/>
                <a:cs typeface="Cambria" pitchFamily="34" charset="-120"/>
              </a:rPr>
              <a:t>Key Categorical Findings</a:t>
            </a:r>
            <a:endParaRPr lang="en-US" sz="1500" dirty="0"/>
          </a:p>
        </p:txBody>
      </p:sp>
      <p:sp>
        <p:nvSpPr>
          <p:cNvPr id="19" name="Text 17"/>
          <p:cNvSpPr/>
          <p:nvPr/>
        </p:nvSpPr>
        <p:spPr>
          <a:xfrm>
            <a:off x="6263640" y="3611880"/>
            <a:ext cx="5394960" cy="2743200"/>
          </a:xfrm>
          <a:prstGeom prst="rect">
            <a:avLst/>
          </a:prstGeom>
          <a:noFill/>
          <a:ln/>
        </p:spPr>
        <p:txBody>
          <a:bodyPr wrap="square" rtlCol="0" anchor="t"/>
          <a:lstStyle/>
          <a:p>
            <a:pPr marL="342900" indent="-342900">
              <a:lnSpc>
                <a:spcPct val="120000"/>
              </a:lnSpc>
              <a:spcAft>
                <a:spcPts val="1400"/>
              </a:spcAft>
              <a:buSzPct val="100000"/>
              <a:buChar char="•"/>
            </a:pPr>
            <a:r>
              <a:rPr lang="en-US" sz="1250" dirty="0">
                <a:solidFill>
                  <a:srgbClr val="1B1B1B"/>
                </a:solidFill>
                <a:latin typeface="Calibri" pitchFamily="34" charset="0"/>
                <a:ea typeface="Calibri" pitchFamily="34" charset="-122"/>
                <a:cs typeface="Calibri" pitchFamily="34" charset="-120"/>
              </a:rPr>
              <a:t>Date range: 01-04-2022 to 30-03-2023, with 05-09-2022 the most frequent date (8 orders)</a:t>
            </a:r>
            <a:endParaRPr lang="en-US" sz="1250" dirty="0"/>
          </a:p>
          <a:p>
            <a:pPr marL="342900" indent="-342900">
              <a:lnSpc>
                <a:spcPct val="120000"/>
              </a:lnSpc>
              <a:spcAft>
                <a:spcPts val="1400"/>
              </a:spcAft>
              <a:buSzPct val="100000"/>
              <a:buChar char="•"/>
            </a:pPr>
            <a:r>
              <a:rPr lang="en-US" sz="1250" dirty="0">
                <a:solidFill>
                  <a:srgbClr val="1B1B1B"/>
                </a:solidFill>
                <a:latin typeface="Calibri" pitchFamily="34" charset="0"/>
                <a:ea typeface="Calibri" pitchFamily="34" charset="-122"/>
                <a:cs typeface="Calibri" pitchFamily="34" charset="-120"/>
              </a:rPr>
              <a:t>Cold Coffee was the most-ordered item (161 orders); Night was the busiest time_of_sale (205 orders)</a:t>
            </a:r>
            <a:endParaRPr lang="en-US" sz="1250" dirty="0"/>
          </a:p>
        </p:txBody>
      </p:sp>
      <p:sp>
        <p:nvSpPr>
          <p:cNvPr id="20" name="Text 18"/>
          <p:cNvSpPr/>
          <p:nvPr/>
        </p:nvSpPr>
        <p:spPr>
          <a:xfrm>
            <a:off x="457200" y="6537960"/>
            <a:ext cx="5486400" cy="274320"/>
          </a:xfrm>
          <a:prstGeom prst="rect">
            <a:avLst/>
          </a:prstGeom>
          <a:noFill/>
          <a:ln/>
        </p:spPr>
        <p:txBody>
          <a:bodyPr wrap="square" rtlCol="0" anchor="ctr"/>
          <a:lstStyle/>
          <a:p>
            <a:pPr indent="0" marL="0">
              <a:buNone/>
            </a:pPr>
            <a:r>
              <a:rPr lang="en-US" sz="900" dirty="0">
                <a:solidFill>
                  <a:srgbClr val="6B6B6B"/>
                </a:solidFill>
                <a:latin typeface="Calibri" pitchFamily="34" charset="0"/>
                <a:ea typeface="Calibri" pitchFamily="34" charset="-122"/>
                <a:cs typeface="Calibri" pitchFamily="34" charset="-120"/>
              </a:rPr>
              <a:t>Balaji Fast Food Sales Analysis</a:t>
            </a:r>
            <a:endParaRPr lang="en-US" sz="900" dirty="0"/>
          </a:p>
        </p:txBody>
      </p:sp>
      <p:sp>
        <p:nvSpPr>
          <p:cNvPr id="21" name="Text 19"/>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indent="0" marL="0">
              <a:buNone/>
            </a:pPr>
            <a:r>
              <a:rPr lang="en-US" sz="1300" b="1" spc="200" kern="0" dirty="0">
                <a:solidFill>
                  <a:srgbClr val="C1272D"/>
                </a:solidFill>
                <a:latin typeface="Calibri" pitchFamily="34" charset="0"/>
                <a:ea typeface="Calibri" pitchFamily="34" charset="-122"/>
                <a:cs typeface="Calibri" pitchFamily="34" charset="-120"/>
              </a:rPr>
              <a:t>STEP 2</a:t>
            </a:r>
            <a:endParaRPr lang="en-US" sz="1300" dirty="0"/>
          </a:p>
        </p:txBody>
      </p:sp>
      <p:sp>
        <p:nvSpPr>
          <p:cNvPr id="3" name="Text 1"/>
          <p:cNvSpPr/>
          <p:nvPr/>
        </p:nvSpPr>
        <p:spPr>
          <a:xfrm>
            <a:off x="548640" y="713232"/>
            <a:ext cx="8229600" cy="640080"/>
          </a:xfrm>
          <a:prstGeom prst="rect">
            <a:avLst/>
          </a:prstGeom>
          <a:noFill/>
          <a:ln/>
        </p:spPr>
        <p:txBody>
          <a:bodyPr wrap="square" rtlCol="0" anchor="ctr"/>
          <a:lstStyle/>
          <a:p>
            <a:pPr indent="0" marL="0">
              <a:buNone/>
            </a:pPr>
            <a:r>
              <a:rPr lang="en-US" sz="3200" b="1" dirty="0">
                <a:solidFill>
                  <a:srgbClr val="1B1B1B"/>
                </a:solidFill>
                <a:latin typeface="Cambria" pitchFamily="34" charset="0"/>
                <a:ea typeface="Cambria" pitchFamily="34" charset="-122"/>
                <a:cs typeface="Cambria" pitchFamily="34" charset="-120"/>
              </a:rPr>
              <a:t>Data Preprocessing</a:t>
            </a:r>
            <a:endParaRPr lang="en-US" sz="3200" dirty="0"/>
          </a:p>
        </p:txBody>
      </p:sp>
      <p:sp>
        <p:nvSpPr>
          <p:cNvPr id="4" name="Shape 2"/>
          <p:cNvSpPr/>
          <p:nvPr/>
        </p:nvSpPr>
        <p:spPr>
          <a:xfrm>
            <a:off x="548640" y="1737360"/>
            <a:ext cx="5440680" cy="1481328"/>
          </a:xfrm>
          <a:prstGeom prst="roundRect">
            <a:avLst>
              <a:gd name="adj" fmla="val 4938"/>
            </a:avLst>
          </a:prstGeom>
          <a:solidFill>
            <a:srgbClr val="F4F4F4"/>
          </a:solidFill>
          <a:ln/>
        </p:spPr>
      </p:sp>
      <p:sp>
        <p:nvSpPr>
          <p:cNvPr id="5" name="Shape 3"/>
          <p:cNvSpPr/>
          <p:nvPr/>
        </p:nvSpPr>
        <p:spPr>
          <a:xfrm>
            <a:off x="777240" y="1965960"/>
            <a:ext cx="128016" cy="128016"/>
          </a:xfrm>
          <a:prstGeom prst="ellipse">
            <a:avLst/>
          </a:prstGeom>
          <a:solidFill>
            <a:srgbClr val="C1272D"/>
          </a:solidFill>
          <a:ln/>
        </p:spPr>
      </p:sp>
      <p:sp>
        <p:nvSpPr>
          <p:cNvPr id="6" name="Text 4"/>
          <p:cNvSpPr/>
          <p:nvPr/>
        </p:nvSpPr>
        <p:spPr>
          <a:xfrm>
            <a:off x="1051560" y="1865376"/>
            <a:ext cx="4709160" cy="320040"/>
          </a:xfrm>
          <a:prstGeom prst="rect">
            <a:avLst/>
          </a:prstGeom>
          <a:noFill/>
          <a:ln/>
        </p:spPr>
        <p:txBody>
          <a:bodyPr wrap="square" rtlCol="0" anchor="ctr"/>
          <a:lstStyle/>
          <a:p>
            <a:pPr indent="0" marL="0">
              <a:buNone/>
            </a:pPr>
            <a:r>
              <a:rPr lang="en-US" sz="1400" b="1" dirty="0">
                <a:solidFill>
                  <a:srgbClr val="1B1B1B"/>
                </a:solidFill>
                <a:latin typeface="Cambria" pitchFamily="34" charset="0"/>
                <a:ea typeface="Cambria" pitchFamily="34" charset="-122"/>
                <a:cs typeface="Cambria" pitchFamily="34" charset="-120"/>
              </a:rPr>
              <a:t>Missing Values</a:t>
            </a:r>
            <a:endParaRPr lang="en-US" sz="1400" dirty="0"/>
          </a:p>
        </p:txBody>
      </p:sp>
      <p:sp>
        <p:nvSpPr>
          <p:cNvPr id="7" name="Text 5"/>
          <p:cNvSpPr/>
          <p:nvPr/>
        </p:nvSpPr>
        <p:spPr>
          <a:xfrm>
            <a:off x="777240" y="2240280"/>
            <a:ext cx="4983480" cy="868680"/>
          </a:xfrm>
          <a:prstGeom prst="rect">
            <a:avLst/>
          </a:prstGeom>
          <a:noFill/>
          <a:ln/>
        </p:spPr>
        <p:txBody>
          <a:bodyPr wrap="square" rtlCol="0" anchor="t"/>
          <a:lstStyle/>
          <a:p>
            <a:pPr indent="0" marL="0">
              <a:lnSpc>
                <a:spcPct val="115000"/>
              </a:lnSpc>
              <a:buNone/>
            </a:pPr>
            <a:r>
              <a:rPr lang="en-US" sz="1150" dirty="0">
                <a:solidFill>
                  <a:srgbClr val="6B6B6B"/>
                </a:solidFill>
                <a:latin typeface="Calibri" pitchFamily="34" charset="0"/>
                <a:ea typeface="Calibri" pitchFamily="34" charset="-122"/>
                <a:cs typeface="Calibri" pitchFamily="34" charset="-120"/>
              </a:rPr>
              <a:t>0 missing values found after preprocessing (checked with df.isnull().sum())</a:t>
            </a:r>
            <a:endParaRPr lang="en-US" sz="1150" dirty="0"/>
          </a:p>
        </p:txBody>
      </p:sp>
      <p:sp>
        <p:nvSpPr>
          <p:cNvPr id="8" name="Shape 6"/>
          <p:cNvSpPr/>
          <p:nvPr/>
        </p:nvSpPr>
        <p:spPr>
          <a:xfrm>
            <a:off x="6309360" y="1737360"/>
            <a:ext cx="5440680" cy="1481328"/>
          </a:xfrm>
          <a:prstGeom prst="roundRect">
            <a:avLst>
              <a:gd name="adj" fmla="val 4938"/>
            </a:avLst>
          </a:prstGeom>
          <a:solidFill>
            <a:srgbClr val="F4F4F4"/>
          </a:solidFill>
          <a:ln/>
        </p:spPr>
      </p:sp>
      <p:sp>
        <p:nvSpPr>
          <p:cNvPr id="9" name="Shape 7"/>
          <p:cNvSpPr/>
          <p:nvPr/>
        </p:nvSpPr>
        <p:spPr>
          <a:xfrm>
            <a:off x="6537960" y="1965960"/>
            <a:ext cx="128016" cy="128016"/>
          </a:xfrm>
          <a:prstGeom prst="ellipse">
            <a:avLst/>
          </a:prstGeom>
          <a:solidFill>
            <a:srgbClr val="C1272D"/>
          </a:solidFill>
          <a:ln/>
        </p:spPr>
      </p:sp>
      <p:sp>
        <p:nvSpPr>
          <p:cNvPr id="10" name="Text 8"/>
          <p:cNvSpPr/>
          <p:nvPr/>
        </p:nvSpPr>
        <p:spPr>
          <a:xfrm>
            <a:off x="6812280" y="1865376"/>
            <a:ext cx="4709160" cy="320040"/>
          </a:xfrm>
          <a:prstGeom prst="rect">
            <a:avLst/>
          </a:prstGeom>
          <a:noFill/>
          <a:ln/>
        </p:spPr>
        <p:txBody>
          <a:bodyPr wrap="square" rtlCol="0" anchor="ctr"/>
          <a:lstStyle/>
          <a:p>
            <a:pPr indent="0" marL="0">
              <a:buNone/>
            </a:pPr>
            <a:r>
              <a:rPr lang="en-US" sz="1400" b="1" dirty="0">
                <a:solidFill>
                  <a:srgbClr val="1B1B1B"/>
                </a:solidFill>
                <a:latin typeface="Cambria" pitchFamily="34" charset="0"/>
                <a:ea typeface="Cambria" pitchFamily="34" charset="-122"/>
                <a:cs typeface="Cambria" pitchFamily="34" charset="-120"/>
              </a:rPr>
              <a:t>Duplicate Records</a:t>
            </a:r>
            <a:endParaRPr lang="en-US" sz="1400" dirty="0"/>
          </a:p>
        </p:txBody>
      </p:sp>
      <p:sp>
        <p:nvSpPr>
          <p:cNvPr id="11" name="Text 9"/>
          <p:cNvSpPr/>
          <p:nvPr/>
        </p:nvSpPr>
        <p:spPr>
          <a:xfrm>
            <a:off x="6537960" y="2240280"/>
            <a:ext cx="4983480" cy="868680"/>
          </a:xfrm>
          <a:prstGeom prst="rect">
            <a:avLst/>
          </a:prstGeom>
          <a:noFill/>
          <a:ln/>
        </p:spPr>
        <p:txBody>
          <a:bodyPr wrap="square" rtlCol="0" anchor="t"/>
          <a:lstStyle/>
          <a:p>
            <a:pPr indent="0" marL="0">
              <a:lnSpc>
                <a:spcPct val="115000"/>
              </a:lnSpc>
              <a:buNone/>
            </a:pPr>
            <a:r>
              <a:rPr lang="en-US" sz="1150" dirty="0">
                <a:solidFill>
                  <a:srgbClr val="6B6B6B"/>
                </a:solidFill>
                <a:latin typeface="Calibri" pitchFamily="34" charset="0"/>
                <a:ea typeface="Calibri" pitchFamily="34" charset="-122"/>
                <a:cs typeface="Calibri" pitchFamily="34" charset="-120"/>
              </a:rPr>
              <a:t>0 duplicate rows found (checked with df.duplicated().sum())</a:t>
            </a:r>
            <a:endParaRPr lang="en-US" sz="1150" dirty="0"/>
          </a:p>
        </p:txBody>
      </p:sp>
      <p:sp>
        <p:nvSpPr>
          <p:cNvPr id="12" name="Shape 10"/>
          <p:cNvSpPr/>
          <p:nvPr/>
        </p:nvSpPr>
        <p:spPr>
          <a:xfrm>
            <a:off x="548640" y="3355848"/>
            <a:ext cx="5440680" cy="1481328"/>
          </a:xfrm>
          <a:prstGeom prst="roundRect">
            <a:avLst>
              <a:gd name="adj" fmla="val 4938"/>
            </a:avLst>
          </a:prstGeom>
          <a:solidFill>
            <a:srgbClr val="F4F4F4"/>
          </a:solidFill>
          <a:ln/>
        </p:spPr>
      </p:sp>
      <p:sp>
        <p:nvSpPr>
          <p:cNvPr id="13" name="Shape 11"/>
          <p:cNvSpPr/>
          <p:nvPr/>
        </p:nvSpPr>
        <p:spPr>
          <a:xfrm>
            <a:off x="777240" y="3584448"/>
            <a:ext cx="128016" cy="128016"/>
          </a:xfrm>
          <a:prstGeom prst="ellipse">
            <a:avLst/>
          </a:prstGeom>
          <a:solidFill>
            <a:srgbClr val="C1272D"/>
          </a:solidFill>
          <a:ln/>
        </p:spPr>
      </p:sp>
      <p:sp>
        <p:nvSpPr>
          <p:cNvPr id="14" name="Text 12"/>
          <p:cNvSpPr/>
          <p:nvPr/>
        </p:nvSpPr>
        <p:spPr>
          <a:xfrm>
            <a:off x="1051560" y="3483864"/>
            <a:ext cx="4709160" cy="320040"/>
          </a:xfrm>
          <a:prstGeom prst="rect">
            <a:avLst/>
          </a:prstGeom>
          <a:noFill/>
          <a:ln/>
        </p:spPr>
        <p:txBody>
          <a:bodyPr wrap="square" rtlCol="0" anchor="ctr"/>
          <a:lstStyle/>
          <a:p>
            <a:pPr indent="0" marL="0">
              <a:buNone/>
            </a:pPr>
            <a:r>
              <a:rPr lang="en-US" sz="1400" b="1" dirty="0">
                <a:solidFill>
                  <a:srgbClr val="1B1B1B"/>
                </a:solidFill>
                <a:latin typeface="Cambria" pitchFamily="34" charset="0"/>
                <a:ea typeface="Cambria" pitchFamily="34" charset="-122"/>
                <a:cs typeface="Cambria" pitchFamily="34" charset="-120"/>
              </a:rPr>
              <a:t>Date Conversion</a:t>
            </a:r>
            <a:endParaRPr lang="en-US" sz="1400" dirty="0"/>
          </a:p>
        </p:txBody>
      </p:sp>
      <p:sp>
        <p:nvSpPr>
          <p:cNvPr id="15" name="Text 13"/>
          <p:cNvSpPr/>
          <p:nvPr/>
        </p:nvSpPr>
        <p:spPr>
          <a:xfrm>
            <a:off x="777240" y="3858768"/>
            <a:ext cx="4983480" cy="868680"/>
          </a:xfrm>
          <a:prstGeom prst="rect">
            <a:avLst/>
          </a:prstGeom>
          <a:noFill/>
          <a:ln/>
        </p:spPr>
        <p:txBody>
          <a:bodyPr wrap="square" rtlCol="0" anchor="t"/>
          <a:lstStyle/>
          <a:p>
            <a:pPr indent="0" marL="0">
              <a:lnSpc>
                <a:spcPct val="115000"/>
              </a:lnSpc>
              <a:buNone/>
            </a:pPr>
            <a:r>
              <a:rPr lang="en-US" sz="1150" dirty="0">
                <a:solidFill>
                  <a:srgbClr val="6B6B6B"/>
                </a:solidFill>
                <a:latin typeface="Calibri" pitchFamily="34" charset="0"/>
                <a:ea typeface="Calibri" pitchFamily="34" charset="-122"/>
                <a:cs typeface="Calibri" pitchFamily="34" charset="-120"/>
              </a:rPr>
              <a:t>date column converted from object to datetime64 for time-series analysis</a:t>
            </a:r>
            <a:endParaRPr lang="en-US" sz="1150" dirty="0"/>
          </a:p>
        </p:txBody>
      </p:sp>
      <p:sp>
        <p:nvSpPr>
          <p:cNvPr id="16" name="Shape 14"/>
          <p:cNvSpPr/>
          <p:nvPr/>
        </p:nvSpPr>
        <p:spPr>
          <a:xfrm>
            <a:off x="6309360" y="3355848"/>
            <a:ext cx="5440680" cy="1481328"/>
          </a:xfrm>
          <a:prstGeom prst="roundRect">
            <a:avLst>
              <a:gd name="adj" fmla="val 4938"/>
            </a:avLst>
          </a:prstGeom>
          <a:solidFill>
            <a:srgbClr val="F4F4F4"/>
          </a:solidFill>
          <a:ln/>
        </p:spPr>
      </p:sp>
      <p:sp>
        <p:nvSpPr>
          <p:cNvPr id="17" name="Shape 15"/>
          <p:cNvSpPr/>
          <p:nvPr/>
        </p:nvSpPr>
        <p:spPr>
          <a:xfrm>
            <a:off x="6537960" y="3584448"/>
            <a:ext cx="128016" cy="128016"/>
          </a:xfrm>
          <a:prstGeom prst="ellipse">
            <a:avLst/>
          </a:prstGeom>
          <a:solidFill>
            <a:srgbClr val="C1272D"/>
          </a:solidFill>
          <a:ln/>
        </p:spPr>
      </p:sp>
      <p:sp>
        <p:nvSpPr>
          <p:cNvPr id="18" name="Text 16"/>
          <p:cNvSpPr/>
          <p:nvPr/>
        </p:nvSpPr>
        <p:spPr>
          <a:xfrm>
            <a:off x="6812280" y="3483864"/>
            <a:ext cx="4709160" cy="320040"/>
          </a:xfrm>
          <a:prstGeom prst="rect">
            <a:avLst/>
          </a:prstGeom>
          <a:noFill/>
          <a:ln/>
        </p:spPr>
        <p:txBody>
          <a:bodyPr wrap="square" rtlCol="0" anchor="ctr"/>
          <a:lstStyle/>
          <a:p>
            <a:pPr indent="0" marL="0">
              <a:buNone/>
            </a:pPr>
            <a:r>
              <a:rPr lang="en-US" sz="1400" b="1" dirty="0">
                <a:solidFill>
                  <a:srgbClr val="1B1B1B"/>
                </a:solidFill>
                <a:latin typeface="Cambria" pitchFamily="34" charset="0"/>
                <a:ea typeface="Cambria" pitchFamily="34" charset="-122"/>
                <a:cs typeface="Cambria" pitchFamily="34" charset="-120"/>
              </a:rPr>
              <a:t>Negative / Zero Values</a:t>
            </a:r>
            <a:endParaRPr lang="en-US" sz="1400" dirty="0"/>
          </a:p>
        </p:txBody>
      </p:sp>
      <p:sp>
        <p:nvSpPr>
          <p:cNvPr id="19" name="Text 17"/>
          <p:cNvSpPr/>
          <p:nvPr/>
        </p:nvSpPr>
        <p:spPr>
          <a:xfrm>
            <a:off x="6537960" y="3858768"/>
            <a:ext cx="4983480" cy="868680"/>
          </a:xfrm>
          <a:prstGeom prst="rect">
            <a:avLst/>
          </a:prstGeom>
          <a:noFill/>
          <a:ln/>
        </p:spPr>
        <p:txBody>
          <a:bodyPr wrap="square" rtlCol="0" anchor="t"/>
          <a:lstStyle/>
          <a:p>
            <a:pPr indent="0" marL="0">
              <a:lnSpc>
                <a:spcPct val="115000"/>
              </a:lnSpc>
              <a:buNone/>
            </a:pPr>
            <a:r>
              <a:rPr lang="en-US" sz="1150" dirty="0">
                <a:solidFill>
                  <a:srgbClr val="6B6B6B"/>
                </a:solidFill>
                <a:latin typeface="Calibri" pitchFamily="34" charset="0"/>
                <a:ea typeface="Calibri" pitchFamily="34" charset="-122"/>
                <a:cs typeface="Calibri" pitchFamily="34" charset="-120"/>
              </a:rPr>
              <a:t>None found in item_price, quantity, or transaction_amount</a:t>
            </a:r>
            <a:endParaRPr lang="en-US" sz="1150" dirty="0"/>
          </a:p>
        </p:txBody>
      </p:sp>
      <p:sp>
        <p:nvSpPr>
          <p:cNvPr id="20" name="Shape 18"/>
          <p:cNvSpPr/>
          <p:nvPr/>
        </p:nvSpPr>
        <p:spPr>
          <a:xfrm>
            <a:off x="548640" y="4974336"/>
            <a:ext cx="5440680" cy="1481328"/>
          </a:xfrm>
          <a:prstGeom prst="roundRect">
            <a:avLst>
              <a:gd name="adj" fmla="val 4938"/>
            </a:avLst>
          </a:prstGeom>
          <a:solidFill>
            <a:srgbClr val="F4F4F4"/>
          </a:solidFill>
          <a:ln/>
        </p:spPr>
      </p:sp>
      <p:sp>
        <p:nvSpPr>
          <p:cNvPr id="21" name="Shape 19"/>
          <p:cNvSpPr/>
          <p:nvPr/>
        </p:nvSpPr>
        <p:spPr>
          <a:xfrm>
            <a:off x="777240" y="5202936"/>
            <a:ext cx="128016" cy="128016"/>
          </a:xfrm>
          <a:prstGeom prst="ellipse">
            <a:avLst/>
          </a:prstGeom>
          <a:solidFill>
            <a:srgbClr val="C1272D"/>
          </a:solidFill>
          <a:ln/>
        </p:spPr>
      </p:sp>
      <p:sp>
        <p:nvSpPr>
          <p:cNvPr id="22" name="Text 20"/>
          <p:cNvSpPr/>
          <p:nvPr/>
        </p:nvSpPr>
        <p:spPr>
          <a:xfrm>
            <a:off x="1051560" y="5102352"/>
            <a:ext cx="4709160" cy="320040"/>
          </a:xfrm>
          <a:prstGeom prst="rect">
            <a:avLst/>
          </a:prstGeom>
          <a:noFill/>
          <a:ln/>
        </p:spPr>
        <p:txBody>
          <a:bodyPr wrap="square" rtlCol="0" anchor="ctr"/>
          <a:lstStyle/>
          <a:p>
            <a:pPr indent="0" marL="0">
              <a:buNone/>
            </a:pPr>
            <a:r>
              <a:rPr lang="en-US" sz="1400" b="1" dirty="0">
                <a:solidFill>
                  <a:srgbClr val="1B1B1B"/>
                </a:solidFill>
                <a:latin typeface="Cambria" pitchFamily="34" charset="0"/>
                <a:ea typeface="Cambria" pitchFamily="34" charset="-122"/>
                <a:cs typeface="Cambria" pitchFamily="34" charset="-120"/>
              </a:rPr>
              <a:t>Amount Validation</a:t>
            </a:r>
            <a:endParaRPr lang="en-US" sz="1400" dirty="0"/>
          </a:p>
        </p:txBody>
      </p:sp>
      <p:sp>
        <p:nvSpPr>
          <p:cNvPr id="23" name="Text 21"/>
          <p:cNvSpPr/>
          <p:nvPr/>
        </p:nvSpPr>
        <p:spPr>
          <a:xfrm>
            <a:off x="777240" y="5477256"/>
            <a:ext cx="4983480" cy="868680"/>
          </a:xfrm>
          <a:prstGeom prst="rect">
            <a:avLst/>
          </a:prstGeom>
          <a:noFill/>
          <a:ln/>
        </p:spPr>
        <p:txBody>
          <a:bodyPr wrap="square" rtlCol="0" anchor="t"/>
          <a:lstStyle/>
          <a:p>
            <a:pPr indent="0" marL="0">
              <a:lnSpc>
                <a:spcPct val="115000"/>
              </a:lnSpc>
              <a:buNone/>
            </a:pPr>
            <a:r>
              <a:rPr lang="en-US" sz="1150" dirty="0">
                <a:solidFill>
                  <a:srgbClr val="6B6B6B"/>
                </a:solidFill>
                <a:latin typeface="Calibri" pitchFamily="34" charset="0"/>
                <a:ea typeface="Calibri" pitchFamily="34" charset="-122"/>
                <a:cs typeface="Calibri" pitchFamily="34" charset="-120"/>
              </a:rPr>
              <a:t>item_price x quantity matched transaction_amount exactly - no mismatches</a:t>
            </a:r>
            <a:endParaRPr lang="en-US" sz="1150" dirty="0"/>
          </a:p>
        </p:txBody>
      </p:sp>
      <p:sp>
        <p:nvSpPr>
          <p:cNvPr id="24" name="Shape 22"/>
          <p:cNvSpPr/>
          <p:nvPr/>
        </p:nvSpPr>
        <p:spPr>
          <a:xfrm>
            <a:off x="6309360" y="4974336"/>
            <a:ext cx="5440680" cy="1481328"/>
          </a:xfrm>
          <a:prstGeom prst="roundRect">
            <a:avLst>
              <a:gd name="adj" fmla="val 4938"/>
            </a:avLst>
          </a:prstGeom>
          <a:solidFill>
            <a:srgbClr val="F4F4F4"/>
          </a:solidFill>
          <a:ln/>
        </p:spPr>
      </p:sp>
      <p:sp>
        <p:nvSpPr>
          <p:cNvPr id="25" name="Shape 23"/>
          <p:cNvSpPr/>
          <p:nvPr/>
        </p:nvSpPr>
        <p:spPr>
          <a:xfrm>
            <a:off x="6537960" y="5202936"/>
            <a:ext cx="128016" cy="128016"/>
          </a:xfrm>
          <a:prstGeom prst="ellipse">
            <a:avLst/>
          </a:prstGeom>
          <a:solidFill>
            <a:srgbClr val="C1272D"/>
          </a:solidFill>
          <a:ln/>
        </p:spPr>
      </p:sp>
      <p:sp>
        <p:nvSpPr>
          <p:cNvPr id="26" name="Text 24"/>
          <p:cNvSpPr/>
          <p:nvPr/>
        </p:nvSpPr>
        <p:spPr>
          <a:xfrm>
            <a:off x="6812280" y="5102352"/>
            <a:ext cx="4709160" cy="320040"/>
          </a:xfrm>
          <a:prstGeom prst="rect">
            <a:avLst/>
          </a:prstGeom>
          <a:noFill/>
          <a:ln/>
        </p:spPr>
        <p:txBody>
          <a:bodyPr wrap="square" rtlCol="0" anchor="ctr"/>
          <a:lstStyle/>
          <a:p>
            <a:pPr indent="0" marL="0">
              <a:buNone/>
            </a:pPr>
            <a:r>
              <a:rPr lang="en-US" sz="1400" b="1" dirty="0">
                <a:solidFill>
                  <a:srgbClr val="1B1B1B"/>
                </a:solidFill>
                <a:latin typeface="Cambria" pitchFamily="34" charset="0"/>
                <a:ea typeface="Cambria" pitchFamily="34" charset="-122"/>
                <a:cs typeface="Cambria" pitchFamily="34" charset="-120"/>
              </a:rPr>
              <a:t>Outlier Detection</a:t>
            </a:r>
            <a:endParaRPr lang="en-US" sz="1400" dirty="0"/>
          </a:p>
        </p:txBody>
      </p:sp>
      <p:sp>
        <p:nvSpPr>
          <p:cNvPr id="27" name="Text 25"/>
          <p:cNvSpPr/>
          <p:nvPr/>
        </p:nvSpPr>
        <p:spPr>
          <a:xfrm>
            <a:off x="6537960" y="5477256"/>
            <a:ext cx="4983480" cy="868680"/>
          </a:xfrm>
          <a:prstGeom prst="rect">
            <a:avLst/>
          </a:prstGeom>
          <a:noFill/>
          <a:ln/>
        </p:spPr>
        <p:txBody>
          <a:bodyPr wrap="square" rtlCol="0" anchor="t"/>
          <a:lstStyle/>
          <a:p>
            <a:pPr indent="0" marL="0">
              <a:lnSpc>
                <a:spcPct val="115000"/>
              </a:lnSpc>
              <a:buNone/>
            </a:pPr>
            <a:r>
              <a:rPr lang="en-US" sz="1150" dirty="0">
                <a:solidFill>
                  <a:srgbClr val="6B6B6B"/>
                </a:solidFill>
                <a:latin typeface="Calibri" pitchFamily="34" charset="0"/>
                <a:ea typeface="Calibri" pitchFamily="34" charset="-122"/>
                <a:cs typeface="Calibri" pitchFamily="34" charset="-120"/>
              </a:rPr>
              <a:t>IQR method flagged 44 outliers (bounds: -240 to 720); retained as valid high-value sales</a:t>
            </a:r>
            <a:endParaRPr lang="en-US" sz="1150" dirty="0"/>
          </a:p>
        </p:txBody>
      </p:sp>
      <p:sp>
        <p:nvSpPr>
          <p:cNvPr id="28" name="Text 26"/>
          <p:cNvSpPr/>
          <p:nvPr/>
        </p:nvSpPr>
        <p:spPr>
          <a:xfrm>
            <a:off x="457200" y="6537960"/>
            <a:ext cx="5486400" cy="274320"/>
          </a:xfrm>
          <a:prstGeom prst="rect">
            <a:avLst/>
          </a:prstGeom>
          <a:noFill/>
          <a:ln/>
        </p:spPr>
        <p:txBody>
          <a:bodyPr wrap="square" rtlCol="0" anchor="ctr"/>
          <a:lstStyle/>
          <a:p>
            <a:pPr indent="0" marL="0">
              <a:buNone/>
            </a:pPr>
            <a:r>
              <a:rPr lang="en-US" sz="900" dirty="0">
                <a:solidFill>
                  <a:srgbClr val="6B6B6B"/>
                </a:solidFill>
                <a:latin typeface="Calibri" pitchFamily="34" charset="0"/>
                <a:ea typeface="Calibri" pitchFamily="34" charset="-122"/>
                <a:cs typeface="Calibri" pitchFamily="34" charset="-120"/>
              </a:rPr>
              <a:t>Balaji Fast Food Sales Analysis</a:t>
            </a:r>
            <a:endParaRPr lang="en-US" sz="900" dirty="0"/>
          </a:p>
        </p:txBody>
      </p:sp>
      <p:sp>
        <p:nvSpPr>
          <p:cNvPr id="29" name="Text 27"/>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indent="0" marL="0">
              <a:buNone/>
            </a:pPr>
            <a:r>
              <a:rPr lang="en-US" sz="1300" b="1" spc="200" kern="0" dirty="0">
                <a:solidFill>
                  <a:srgbClr val="C1272D"/>
                </a:solidFill>
                <a:latin typeface="Calibri" pitchFamily="34" charset="0"/>
                <a:ea typeface="Calibri" pitchFamily="34" charset="-122"/>
                <a:cs typeface="Calibri" pitchFamily="34" charset="-120"/>
              </a:rPr>
              <a:t>STEP 3</a:t>
            </a:r>
            <a:endParaRPr lang="en-US" sz="1300" dirty="0"/>
          </a:p>
        </p:txBody>
      </p:sp>
      <p:sp>
        <p:nvSpPr>
          <p:cNvPr id="3" name="Text 1"/>
          <p:cNvSpPr/>
          <p:nvPr/>
        </p:nvSpPr>
        <p:spPr>
          <a:xfrm>
            <a:off x="548640" y="713232"/>
            <a:ext cx="8229600" cy="640080"/>
          </a:xfrm>
          <a:prstGeom prst="rect">
            <a:avLst/>
          </a:prstGeom>
          <a:noFill/>
          <a:ln/>
        </p:spPr>
        <p:txBody>
          <a:bodyPr wrap="square" rtlCol="0" anchor="ctr"/>
          <a:lstStyle/>
          <a:p>
            <a:pPr indent="0" marL="0">
              <a:buNone/>
            </a:pPr>
            <a:r>
              <a:rPr lang="en-US" sz="3200" b="1" dirty="0">
                <a:solidFill>
                  <a:srgbClr val="1B1B1B"/>
                </a:solidFill>
                <a:latin typeface="Cambria" pitchFamily="34" charset="0"/>
                <a:ea typeface="Cambria" pitchFamily="34" charset="-122"/>
                <a:cs typeface="Cambria" pitchFamily="34" charset="-120"/>
              </a:rPr>
              <a:t>Data Visualization</a:t>
            </a:r>
            <a:endParaRPr lang="en-US" sz="3200" dirty="0"/>
          </a:p>
        </p:txBody>
      </p:sp>
      <p:sp>
        <p:nvSpPr>
          <p:cNvPr id="4" name="Shape 2"/>
          <p:cNvSpPr/>
          <p:nvPr/>
        </p:nvSpPr>
        <p:spPr>
          <a:xfrm>
            <a:off x="548640" y="1783080"/>
            <a:ext cx="2514600" cy="1188720"/>
          </a:xfrm>
          <a:prstGeom prst="roundRect">
            <a:avLst>
              <a:gd name="adj" fmla="val 6154"/>
            </a:avLst>
          </a:prstGeom>
          <a:solidFill>
            <a:srgbClr val="C1272D"/>
          </a:solidFill>
          <a:ln/>
        </p:spPr>
      </p:sp>
      <p:sp>
        <p:nvSpPr>
          <p:cNvPr id="5" name="Text 3"/>
          <p:cNvSpPr/>
          <p:nvPr/>
        </p:nvSpPr>
        <p:spPr>
          <a:xfrm>
            <a:off x="548640" y="1892808"/>
            <a:ext cx="2514600" cy="64008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9</a:t>
            </a:r>
            <a:endParaRPr lang="en-US" sz="3000" dirty="0"/>
          </a:p>
        </p:txBody>
      </p:sp>
      <p:sp>
        <p:nvSpPr>
          <p:cNvPr id="6" name="Text 4"/>
          <p:cNvSpPr/>
          <p:nvPr/>
        </p:nvSpPr>
        <p:spPr>
          <a:xfrm>
            <a:off x="548640" y="2560320"/>
            <a:ext cx="2514600" cy="320040"/>
          </a:xfrm>
          <a:prstGeom prst="rect">
            <a:avLst/>
          </a:prstGeom>
          <a:noFill/>
          <a:ln/>
        </p:spPr>
        <p:txBody>
          <a:bodyPr wrap="square" rtlCol="0" anchor="ctr"/>
          <a:lstStyle/>
          <a:p>
            <a:pPr algn="ctr" indent="0" marL="0">
              <a:buNone/>
            </a:pPr>
            <a:r>
              <a:rPr lang="en-US" sz="1200" dirty="0">
                <a:solidFill>
                  <a:srgbClr val="F5D9D7"/>
                </a:solidFill>
                <a:latin typeface="Calibri" pitchFamily="34" charset="0"/>
                <a:ea typeface="Calibri" pitchFamily="34" charset="-122"/>
                <a:cs typeface="Calibri" pitchFamily="34" charset="-120"/>
              </a:rPr>
              <a:t>Charts Built</a:t>
            </a:r>
            <a:endParaRPr lang="en-US" sz="1200" dirty="0"/>
          </a:p>
        </p:txBody>
      </p:sp>
      <p:sp>
        <p:nvSpPr>
          <p:cNvPr id="7" name="Shape 5"/>
          <p:cNvSpPr/>
          <p:nvPr/>
        </p:nvSpPr>
        <p:spPr>
          <a:xfrm>
            <a:off x="3246120" y="1783080"/>
            <a:ext cx="2514600" cy="1188720"/>
          </a:xfrm>
          <a:prstGeom prst="roundRect">
            <a:avLst>
              <a:gd name="adj" fmla="val 6154"/>
            </a:avLst>
          </a:prstGeom>
          <a:solidFill>
            <a:srgbClr val="F4F4F4"/>
          </a:solidFill>
          <a:ln/>
        </p:spPr>
      </p:sp>
      <p:sp>
        <p:nvSpPr>
          <p:cNvPr id="8" name="Text 6"/>
          <p:cNvSpPr/>
          <p:nvPr/>
        </p:nvSpPr>
        <p:spPr>
          <a:xfrm>
            <a:off x="3246120" y="1892808"/>
            <a:ext cx="2514600" cy="640080"/>
          </a:xfrm>
          <a:prstGeom prst="rect">
            <a:avLst/>
          </a:prstGeom>
          <a:noFill/>
          <a:ln/>
        </p:spPr>
        <p:txBody>
          <a:bodyPr wrap="square" rtlCol="0" anchor="ctr"/>
          <a:lstStyle/>
          <a:p>
            <a:pPr algn="ctr" indent="0" marL="0">
              <a:buNone/>
            </a:pPr>
            <a:r>
              <a:rPr lang="en-US" sz="3000" b="1" dirty="0">
                <a:solidFill>
                  <a:srgbClr val="C1272D"/>
                </a:solidFill>
                <a:latin typeface="Cambria" pitchFamily="34" charset="0"/>
                <a:ea typeface="Cambria" pitchFamily="34" charset="-122"/>
                <a:cs typeface="Cambria" pitchFamily="34" charset="-120"/>
              </a:rPr>
              <a:t>5</a:t>
            </a:r>
            <a:endParaRPr lang="en-US" sz="3000" dirty="0"/>
          </a:p>
        </p:txBody>
      </p:sp>
      <p:sp>
        <p:nvSpPr>
          <p:cNvPr id="9" name="Text 7"/>
          <p:cNvSpPr/>
          <p:nvPr/>
        </p:nvSpPr>
        <p:spPr>
          <a:xfrm>
            <a:off x="3246120" y="2560320"/>
            <a:ext cx="2514600" cy="320040"/>
          </a:xfrm>
          <a:prstGeom prst="rect">
            <a:avLst/>
          </a:prstGeom>
          <a:noFill/>
          <a:ln/>
        </p:spPr>
        <p:txBody>
          <a:bodyPr wrap="square" rtlCol="0" anchor="ctr"/>
          <a:lstStyle/>
          <a:p>
            <a:pPr algn="ctr" indent="0" marL="0">
              <a:buNone/>
            </a:pPr>
            <a:r>
              <a:rPr lang="en-US" sz="1200" dirty="0">
                <a:solidFill>
                  <a:srgbClr val="6B6B6B"/>
                </a:solidFill>
                <a:latin typeface="Calibri" pitchFamily="34" charset="0"/>
                <a:ea typeface="Calibri" pitchFamily="34" charset="-122"/>
                <a:cs typeface="Calibri" pitchFamily="34" charset="-120"/>
              </a:rPr>
              <a:t>Chart Types</a:t>
            </a:r>
            <a:endParaRPr lang="en-US" sz="1200" dirty="0"/>
          </a:p>
        </p:txBody>
      </p:sp>
      <p:sp>
        <p:nvSpPr>
          <p:cNvPr id="10" name="Text 8"/>
          <p:cNvSpPr/>
          <p:nvPr/>
        </p:nvSpPr>
        <p:spPr>
          <a:xfrm>
            <a:off x="548640" y="3246120"/>
            <a:ext cx="10607040" cy="731520"/>
          </a:xfrm>
          <a:prstGeom prst="rect">
            <a:avLst/>
          </a:prstGeom>
          <a:noFill/>
          <a:ln/>
        </p:spPr>
        <p:txBody>
          <a:bodyPr wrap="square" rtlCol="0" anchor="ctr"/>
          <a:lstStyle/>
          <a:p>
            <a:pPr indent="0" marL="0">
              <a:lnSpc>
                <a:spcPct val="130000"/>
              </a:lnSpc>
              <a:buNone/>
            </a:pPr>
            <a:r>
              <a:rPr lang="en-US" sz="1500" dirty="0">
                <a:solidFill>
                  <a:srgbClr val="1B1B1B"/>
                </a:solidFill>
                <a:latin typeface="Calibri" pitchFamily="34" charset="0"/>
                <a:ea typeface="Calibri" pitchFamily="34" charset="-122"/>
                <a:cs typeface="Calibri" pitchFamily="34" charset="-120"/>
              </a:rPr>
              <a:t>Nine charts were built with Matplotlib and Seaborn to explore product performance, revenue split, transaction patterns, and sales trends over time.</a:t>
            </a:r>
            <a:endParaRPr lang="en-US" sz="1500" dirty="0"/>
          </a:p>
        </p:txBody>
      </p:sp>
      <p:sp>
        <p:nvSpPr>
          <p:cNvPr id="11" name="Text 9"/>
          <p:cNvSpPr/>
          <p:nvPr/>
        </p:nvSpPr>
        <p:spPr>
          <a:xfrm>
            <a:off x="548640" y="4114800"/>
            <a:ext cx="5486400" cy="274320"/>
          </a:xfrm>
          <a:prstGeom prst="rect">
            <a:avLst/>
          </a:prstGeom>
          <a:noFill/>
          <a:ln/>
        </p:spPr>
        <p:txBody>
          <a:bodyPr wrap="square" rtlCol="0" anchor="ctr"/>
          <a:lstStyle/>
          <a:p>
            <a:pPr indent="0" marL="0">
              <a:buNone/>
            </a:pPr>
            <a:r>
              <a:rPr lang="en-US" sz="1100" b="1" spc="150" kern="0" dirty="0">
                <a:solidFill>
                  <a:srgbClr val="6B6B6B"/>
                </a:solidFill>
                <a:latin typeface="Calibri" pitchFamily="34" charset="0"/>
                <a:ea typeface="Calibri" pitchFamily="34" charset="-122"/>
                <a:cs typeface="Calibri" pitchFamily="34" charset="-120"/>
              </a:rPr>
              <a:t>CHART TYPES USED</a:t>
            </a:r>
            <a:endParaRPr lang="en-US" sz="1100" dirty="0"/>
          </a:p>
        </p:txBody>
      </p:sp>
      <p:sp>
        <p:nvSpPr>
          <p:cNvPr id="12" name="Shape 10"/>
          <p:cNvSpPr/>
          <p:nvPr/>
        </p:nvSpPr>
        <p:spPr>
          <a:xfrm>
            <a:off x="548640" y="4480560"/>
            <a:ext cx="1965960" cy="640080"/>
          </a:xfrm>
          <a:prstGeom prst="roundRect">
            <a:avLst>
              <a:gd name="adj" fmla="val 11429"/>
            </a:avLst>
          </a:prstGeom>
          <a:solidFill>
            <a:srgbClr val="C1272D"/>
          </a:solidFill>
          <a:ln/>
        </p:spPr>
      </p:sp>
      <p:sp>
        <p:nvSpPr>
          <p:cNvPr id="13" name="Text 11"/>
          <p:cNvSpPr/>
          <p:nvPr/>
        </p:nvSpPr>
        <p:spPr>
          <a:xfrm>
            <a:off x="548640" y="4480560"/>
            <a:ext cx="1965960" cy="64008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Bar Chart</a:t>
            </a:r>
            <a:endParaRPr lang="en-US" sz="1300" dirty="0"/>
          </a:p>
        </p:txBody>
      </p:sp>
      <p:sp>
        <p:nvSpPr>
          <p:cNvPr id="14" name="Shape 12"/>
          <p:cNvSpPr/>
          <p:nvPr/>
        </p:nvSpPr>
        <p:spPr>
          <a:xfrm>
            <a:off x="2743200" y="4480560"/>
            <a:ext cx="1965960" cy="640080"/>
          </a:xfrm>
          <a:prstGeom prst="roundRect">
            <a:avLst>
              <a:gd name="adj" fmla="val 11429"/>
            </a:avLst>
          </a:prstGeom>
          <a:solidFill>
            <a:srgbClr val="8C1D22"/>
          </a:solidFill>
          <a:ln/>
        </p:spPr>
      </p:sp>
      <p:sp>
        <p:nvSpPr>
          <p:cNvPr id="15" name="Text 13"/>
          <p:cNvSpPr/>
          <p:nvPr/>
        </p:nvSpPr>
        <p:spPr>
          <a:xfrm>
            <a:off x="2743200" y="4480560"/>
            <a:ext cx="1965960" cy="64008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Pie Chart</a:t>
            </a:r>
            <a:endParaRPr lang="en-US" sz="1300" dirty="0"/>
          </a:p>
        </p:txBody>
      </p:sp>
      <p:sp>
        <p:nvSpPr>
          <p:cNvPr id="16" name="Shape 14"/>
          <p:cNvSpPr/>
          <p:nvPr/>
        </p:nvSpPr>
        <p:spPr>
          <a:xfrm>
            <a:off x="4937760" y="4480560"/>
            <a:ext cx="1965960" cy="640080"/>
          </a:xfrm>
          <a:prstGeom prst="roundRect">
            <a:avLst>
              <a:gd name="adj" fmla="val 11429"/>
            </a:avLst>
          </a:prstGeom>
          <a:solidFill>
            <a:srgbClr val="C1272D"/>
          </a:solidFill>
          <a:ln/>
        </p:spPr>
      </p:sp>
      <p:sp>
        <p:nvSpPr>
          <p:cNvPr id="17" name="Text 15"/>
          <p:cNvSpPr/>
          <p:nvPr/>
        </p:nvSpPr>
        <p:spPr>
          <a:xfrm>
            <a:off x="4937760" y="4480560"/>
            <a:ext cx="1965960" cy="64008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Line Chart</a:t>
            </a:r>
            <a:endParaRPr lang="en-US" sz="1300" dirty="0"/>
          </a:p>
        </p:txBody>
      </p:sp>
      <p:sp>
        <p:nvSpPr>
          <p:cNvPr id="18" name="Shape 16"/>
          <p:cNvSpPr/>
          <p:nvPr/>
        </p:nvSpPr>
        <p:spPr>
          <a:xfrm>
            <a:off x="7132320" y="4480560"/>
            <a:ext cx="1965960" cy="640080"/>
          </a:xfrm>
          <a:prstGeom prst="roundRect">
            <a:avLst>
              <a:gd name="adj" fmla="val 11429"/>
            </a:avLst>
          </a:prstGeom>
          <a:solidFill>
            <a:srgbClr val="8C1D22"/>
          </a:solidFill>
          <a:ln/>
        </p:spPr>
      </p:sp>
      <p:sp>
        <p:nvSpPr>
          <p:cNvPr id="19" name="Text 17"/>
          <p:cNvSpPr/>
          <p:nvPr/>
        </p:nvSpPr>
        <p:spPr>
          <a:xfrm>
            <a:off x="7132320" y="4480560"/>
            <a:ext cx="1965960" cy="64008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Histogram</a:t>
            </a:r>
            <a:endParaRPr lang="en-US" sz="1300" dirty="0"/>
          </a:p>
        </p:txBody>
      </p:sp>
      <p:sp>
        <p:nvSpPr>
          <p:cNvPr id="20" name="Shape 18"/>
          <p:cNvSpPr/>
          <p:nvPr/>
        </p:nvSpPr>
        <p:spPr>
          <a:xfrm>
            <a:off x="9326880" y="4480560"/>
            <a:ext cx="1965960" cy="640080"/>
          </a:xfrm>
          <a:prstGeom prst="roundRect">
            <a:avLst>
              <a:gd name="adj" fmla="val 11429"/>
            </a:avLst>
          </a:prstGeom>
          <a:solidFill>
            <a:srgbClr val="C1272D"/>
          </a:solidFill>
          <a:ln/>
        </p:spPr>
      </p:sp>
      <p:sp>
        <p:nvSpPr>
          <p:cNvPr id="21" name="Text 19"/>
          <p:cNvSpPr/>
          <p:nvPr/>
        </p:nvSpPr>
        <p:spPr>
          <a:xfrm>
            <a:off x="9326880" y="4480560"/>
            <a:ext cx="1965960" cy="64008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Box Plot</a:t>
            </a:r>
            <a:endParaRPr lang="en-US" sz="1300" dirty="0"/>
          </a:p>
        </p:txBody>
      </p:sp>
      <p:sp>
        <p:nvSpPr>
          <p:cNvPr id="22" name="Text 20"/>
          <p:cNvSpPr/>
          <p:nvPr/>
        </p:nvSpPr>
        <p:spPr>
          <a:xfrm>
            <a:off x="457200" y="6537960"/>
            <a:ext cx="5486400" cy="274320"/>
          </a:xfrm>
          <a:prstGeom prst="rect">
            <a:avLst/>
          </a:prstGeom>
          <a:noFill/>
          <a:ln/>
        </p:spPr>
        <p:txBody>
          <a:bodyPr wrap="square" rtlCol="0" anchor="ctr"/>
          <a:lstStyle/>
          <a:p>
            <a:pPr indent="0" marL="0">
              <a:buNone/>
            </a:pPr>
            <a:r>
              <a:rPr lang="en-US" sz="900" dirty="0">
                <a:solidFill>
                  <a:srgbClr val="6B6B6B"/>
                </a:solidFill>
                <a:latin typeface="Calibri" pitchFamily="34" charset="0"/>
                <a:ea typeface="Calibri" pitchFamily="34" charset="-122"/>
                <a:cs typeface="Calibri" pitchFamily="34" charset="-120"/>
              </a:rPr>
              <a:t>Balaji Fast Food Sales Analysis</a:t>
            </a:r>
            <a:endParaRPr lang="en-US" sz="900" dirty="0"/>
          </a:p>
        </p:txBody>
      </p:sp>
      <p:sp>
        <p:nvSpPr>
          <p:cNvPr id="23" name="Text 21"/>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5394960" cy="320040"/>
          </a:xfrm>
          <a:prstGeom prst="rect">
            <a:avLst/>
          </a:prstGeom>
          <a:noFill/>
          <a:ln/>
        </p:spPr>
        <p:txBody>
          <a:bodyPr wrap="square" rtlCol="0" anchor="ctr"/>
          <a:lstStyle/>
          <a:p>
            <a:pPr indent="0" marL="0">
              <a:buNone/>
            </a:pPr>
            <a:r>
              <a:rPr lang="en-US" sz="1200" b="1" spc="150" kern="0" dirty="0">
                <a:solidFill>
                  <a:srgbClr val="C1272D"/>
                </a:solidFill>
                <a:latin typeface="Calibri" pitchFamily="34" charset="0"/>
                <a:ea typeface="Calibri" pitchFamily="34" charset="-122"/>
                <a:cs typeface="Calibri" pitchFamily="34" charset="-120"/>
              </a:rPr>
              <a:t>VISUAL 1 OF 9  ·  BAR CHART</a:t>
            </a:r>
            <a:endParaRPr lang="en-US" sz="1200" dirty="0"/>
          </a:p>
        </p:txBody>
      </p:sp>
      <p:sp>
        <p:nvSpPr>
          <p:cNvPr id="3" name="Text 1"/>
          <p:cNvSpPr/>
          <p:nvPr/>
        </p:nvSpPr>
        <p:spPr>
          <a:xfrm>
            <a:off x="548640" y="822960"/>
            <a:ext cx="5394960" cy="914400"/>
          </a:xfrm>
          <a:prstGeom prst="rect">
            <a:avLst/>
          </a:prstGeom>
          <a:noFill/>
          <a:ln/>
        </p:spPr>
        <p:txBody>
          <a:bodyPr wrap="square" rtlCol="0" anchor="ctr"/>
          <a:lstStyle/>
          <a:p>
            <a:pPr indent="0" marL="0">
              <a:lnSpc>
                <a:spcPct val="105000"/>
              </a:lnSpc>
              <a:buNone/>
            </a:pPr>
            <a:r>
              <a:rPr lang="en-US" sz="2700" b="1" dirty="0">
                <a:solidFill>
                  <a:srgbClr val="1B1B1B"/>
                </a:solidFill>
                <a:latin typeface="Cambria" pitchFamily="34" charset="0"/>
                <a:ea typeface="Cambria" pitchFamily="34" charset="-122"/>
                <a:cs typeface="Cambria" pitchFamily="34" charset="-120"/>
              </a:rPr>
              <a:t>Sales by Product</a:t>
            </a:r>
            <a:endParaRPr lang="en-US" sz="2700" dirty="0"/>
          </a:p>
        </p:txBody>
      </p:sp>
      <p:sp>
        <p:nvSpPr>
          <p:cNvPr id="4" name="Shape 2"/>
          <p:cNvSpPr/>
          <p:nvPr/>
        </p:nvSpPr>
        <p:spPr>
          <a:xfrm>
            <a:off x="548640" y="1874520"/>
            <a:ext cx="640080" cy="0"/>
          </a:xfrm>
          <a:prstGeom prst="line">
            <a:avLst/>
          </a:prstGeom>
          <a:noFill/>
          <a:ln w="31750">
            <a:solidFill>
              <a:srgbClr val="F4A300"/>
            </a:solidFill>
            <a:prstDash val="solid"/>
          </a:ln>
        </p:spPr>
      </p:sp>
      <p:sp>
        <p:nvSpPr>
          <p:cNvPr id="5" name="Text 3"/>
          <p:cNvSpPr/>
          <p:nvPr/>
        </p:nvSpPr>
        <p:spPr>
          <a:xfrm>
            <a:off x="548640" y="2148840"/>
            <a:ext cx="5394960" cy="2377440"/>
          </a:xfrm>
          <a:prstGeom prst="rect">
            <a:avLst/>
          </a:prstGeom>
          <a:noFill/>
          <a:ln/>
        </p:spPr>
        <p:txBody>
          <a:bodyPr wrap="square" rtlCol="0" anchor="t"/>
          <a:lstStyle/>
          <a:p>
            <a:pPr marL="342900" indent="-342900">
              <a:lnSpc>
                <a:spcPct val="125000"/>
              </a:lnSpc>
              <a:spcAft>
                <a:spcPts val="1600"/>
              </a:spcAft>
              <a:buSzPct val="100000"/>
              <a:buChar char="•"/>
            </a:pPr>
            <a:r>
              <a:rPr lang="en-US" sz="1400" dirty="0">
                <a:solidFill>
                  <a:srgbClr val="1B1B1B"/>
                </a:solidFill>
                <a:latin typeface="Calibri" pitchFamily="34" charset="0"/>
                <a:ea typeface="Calibri" pitchFamily="34" charset="-122"/>
                <a:cs typeface="Calibri" pitchFamily="34" charset="-120"/>
              </a:rPr>
              <a:t>Compares total revenue generated by each of the seven menu items</a:t>
            </a:r>
            <a:endParaRPr lang="en-US" sz="1400" dirty="0"/>
          </a:p>
          <a:p>
            <a:pPr marL="342900" indent="-342900">
              <a:lnSpc>
                <a:spcPct val="125000"/>
              </a:lnSpc>
              <a:spcAft>
                <a:spcPts val="1600"/>
              </a:spcAft>
              <a:buSzPct val="100000"/>
              <a:buChar char="•"/>
            </a:pPr>
            <a:r>
              <a:rPr lang="en-US" sz="1400" dirty="0">
                <a:solidFill>
                  <a:srgbClr val="1B1B1B"/>
                </a:solidFill>
                <a:latin typeface="Calibri" pitchFamily="34" charset="0"/>
                <a:ea typeface="Calibri" pitchFamily="34" charset="-122"/>
                <a:cs typeface="Calibri" pitchFamily="34" charset="-120"/>
              </a:rPr>
              <a:t>Highlights which products are the strongest and weakest performers</a:t>
            </a:r>
            <a:endParaRPr lang="en-US" sz="1400" dirty="0"/>
          </a:p>
        </p:txBody>
      </p:sp>
      <p:sp>
        <p:nvSpPr>
          <p:cNvPr id="6" name="Shape 4"/>
          <p:cNvSpPr/>
          <p:nvPr/>
        </p:nvSpPr>
        <p:spPr>
          <a:xfrm>
            <a:off x="6400800" y="914400"/>
            <a:ext cx="5394960" cy="5029200"/>
          </a:xfrm>
          <a:prstGeom prst="roundRect">
            <a:avLst>
              <a:gd name="adj" fmla="val 1455"/>
            </a:avLst>
          </a:prstGeom>
          <a:solidFill>
            <a:srgbClr val="F4F4F4"/>
          </a:solidFill>
          <a:ln/>
          <a:effectLst>
            <a:outerShdw sx="100000" sy="100000" kx="0" ky="0" algn="bl" rotWithShape="0" blurRad="76200" dist="25400" dir="5400000">
              <a:srgbClr val="000000">
                <a:alpha val="12000"/>
              </a:srgbClr>
            </a:outerShdw>
          </a:effectLst>
        </p:spPr>
      </p:sp>
      <p:pic>
        <p:nvPicPr>
          <p:cNvPr id="7" name="Image 0" descr="/home/claude/charts/chart_1.png">    </p:cNvPr>
          <p:cNvPicPr>
            <a:picLocks noChangeAspect="1"/>
          </p:cNvPicPr>
          <p:nvPr/>
        </p:nvPicPr>
        <p:blipFill>
          <a:blip r:embed="rId1"/>
          <a:stretch>
            <a:fillRect/>
          </a:stretch>
        </p:blipFill>
        <p:spPr>
          <a:xfrm>
            <a:off x="6400800" y="1741521"/>
            <a:ext cx="5394960" cy="3374958"/>
          </a:xfrm>
          <a:prstGeom prst="rect">
            <a:avLst/>
          </a:prstGeom>
        </p:spPr>
      </p:pic>
      <p:sp>
        <p:nvSpPr>
          <p:cNvPr id="8" name="Text 5"/>
          <p:cNvSpPr/>
          <p:nvPr/>
        </p:nvSpPr>
        <p:spPr>
          <a:xfrm>
            <a:off x="457200" y="6537960"/>
            <a:ext cx="5486400" cy="274320"/>
          </a:xfrm>
          <a:prstGeom prst="rect">
            <a:avLst/>
          </a:prstGeom>
          <a:noFill/>
          <a:ln/>
        </p:spPr>
        <p:txBody>
          <a:bodyPr wrap="square" rtlCol="0" anchor="ctr"/>
          <a:lstStyle/>
          <a:p>
            <a:pPr indent="0" marL="0">
              <a:buNone/>
            </a:pPr>
            <a:r>
              <a:rPr lang="en-US" sz="900" dirty="0">
                <a:solidFill>
                  <a:srgbClr val="6B6B6B"/>
                </a:solidFill>
                <a:latin typeface="Calibri" pitchFamily="34" charset="0"/>
                <a:ea typeface="Calibri" pitchFamily="34" charset="-122"/>
                <a:cs typeface="Calibri" pitchFamily="34" charset="-120"/>
              </a:rPr>
              <a:t>Balaji Fast Food Sales Analysis</a:t>
            </a:r>
            <a:endParaRPr lang="en-US" sz="900" dirty="0"/>
          </a:p>
        </p:txBody>
      </p:sp>
      <p:sp>
        <p:nvSpPr>
          <p:cNvPr id="9" name="Text 6"/>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0" y="502920"/>
            <a:ext cx="5394960" cy="320040"/>
          </a:xfrm>
          <a:prstGeom prst="rect">
            <a:avLst/>
          </a:prstGeom>
          <a:noFill/>
          <a:ln/>
        </p:spPr>
        <p:txBody>
          <a:bodyPr wrap="square" rtlCol="0" anchor="ctr"/>
          <a:lstStyle/>
          <a:p>
            <a:pPr indent="0" marL="0">
              <a:buNone/>
            </a:pPr>
            <a:r>
              <a:rPr lang="en-US" sz="1200" b="1" spc="150" kern="0" dirty="0">
                <a:solidFill>
                  <a:srgbClr val="C1272D"/>
                </a:solidFill>
                <a:latin typeface="Calibri" pitchFamily="34" charset="0"/>
                <a:ea typeface="Calibri" pitchFamily="34" charset="-122"/>
                <a:cs typeface="Calibri" pitchFamily="34" charset="-120"/>
              </a:rPr>
              <a:t>VISUAL 2 OF 9  ·  BAR CHART</a:t>
            </a:r>
            <a:endParaRPr lang="en-US" sz="1200" dirty="0"/>
          </a:p>
        </p:txBody>
      </p:sp>
      <p:sp>
        <p:nvSpPr>
          <p:cNvPr id="3" name="Text 1"/>
          <p:cNvSpPr/>
          <p:nvPr/>
        </p:nvSpPr>
        <p:spPr>
          <a:xfrm>
            <a:off x="6400800" y="822960"/>
            <a:ext cx="5394960" cy="914400"/>
          </a:xfrm>
          <a:prstGeom prst="rect">
            <a:avLst/>
          </a:prstGeom>
          <a:noFill/>
          <a:ln/>
        </p:spPr>
        <p:txBody>
          <a:bodyPr wrap="square" rtlCol="0" anchor="ctr"/>
          <a:lstStyle/>
          <a:p>
            <a:pPr indent="0" marL="0">
              <a:lnSpc>
                <a:spcPct val="105000"/>
              </a:lnSpc>
              <a:buNone/>
            </a:pPr>
            <a:r>
              <a:rPr lang="en-US" sz="2700" b="1" dirty="0">
                <a:solidFill>
                  <a:srgbClr val="1B1B1B"/>
                </a:solidFill>
                <a:latin typeface="Cambria" pitchFamily="34" charset="0"/>
                <a:ea typeface="Cambria" pitchFamily="34" charset="-122"/>
                <a:cs typeface="Cambria" pitchFamily="34" charset="-120"/>
              </a:rPr>
              <a:t>Revenue by Item Type</a:t>
            </a:r>
            <a:endParaRPr lang="en-US" sz="2700" dirty="0"/>
          </a:p>
        </p:txBody>
      </p:sp>
      <p:sp>
        <p:nvSpPr>
          <p:cNvPr id="4" name="Shape 2"/>
          <p:cNvSpPr/>
          <p:nvPr/>
        </p:nvSpPr>
        <p:spPr>
          <a:xfrm>
            <a:off x="6400800" y="1874520"/>
            <a:ext cx="640080" cy="0"/>
          </a:xfrm>
          <a:prstGeom prst="line">
            <a:avLst/>
          </a:prstGeom>
          <a:noFill/>
          <a:ln w="31750">
            <a:solidFill>
              <a:srgbClr val="F4A300"/>
            </a:solidFill>
            <a:prstDash val="solid"/>
          </a:ln>
        </p:spPr>
      </p:sp>
      <p:sp>
        <p:nvSpPr>
          <p:cNvPr id="5" name="Text 3"/>
          <p:cNvSpPr/>
          <p:nvPr/>
        </p:nvSpPr>
        <p:spPr>
          <a:xfrm>
            <a:off x="6400800" y="2148840"/>
            <a:ext cx="5394960" cy="2377440"/>
          </a:xfrm>
          <a:prstGeom prst="rect">
            <a:avLst/>
          </a:prstGeom>
          <a:noFill/>
          <a:ln/>
        </p:spPr>
        <p:txBody>
          <a:bodyPr wrap="square" rtlCol="0" anchor="t"/>
          <a:lstStyle/>
          <a:p>
            <a:pPr marL="342900" indent="-342900">
              <a:lnSpc>
                <a:spcPct val="125000"/>
              </a:lnSpc>
              <a:spcAft>
                <a:spcPts val="1600"/>
              </a:spcAft>
              <a:buSzPct val="100000"/>
              <a:buChar char="•"/>
            </a:pPr>
            <a:r>
              <a:rPr lang="en-US" sz="1400" dirty="0">
                <a:solidFill>
                  <a:srgbClr val="1B1B1B"/>
                </a:solidFill>
                <a:latin typeface="Calibri" pitchFamily="34" charset="0"/>
                <a:ea typeface="Calibri" pitchFamily="34" charset="-122"/>
                <a:cs typeface="Calibri" pitchFamily="34" charset="-120"/>
              </a:rPr>
              <a:t>Compares revenue split between the Fastfood and Beverages categories</a:t>
            </a:r>
            <a:endParaRPr lang="en-US" sz="1400" dirty="0"/>
          </a:p>
          <a:p>
            <a:pPr marL="342900" indent="-342900">
              <a:lnSpc>
                <a:spcPct val="125000"/>
              </a:lnSpc>
              <a:spcAft>
                <a:spcPts val="1600"/>
              </a:spcAft>
              <a:buSzPct val="100000"/>
              <a:buChar char="•"/>
            </a:pPr>
            <a:r>
              <a:rPr lang="en-US" sz="1400" dirty="0">
                <a:solidFill>
                  <a:srgbClr val="1B1B1B"/>
                </a:solidFill>
                <a:latin typeface="Calibri" pitchFamily="34" charset="0"/>
                <a:ea typeface="Calibri" pitchFamily="34" charset="-122"/>
                <a:cs typeface="Calibri" pitchFamily="34" charset="-120"/>
              </a:rPr>
              <a:t>Shows which item type contributes more to total revenue</a:t>
            </a:r>
            <a:endParaRPr lang="en-US" sz="1400" dirty="0"/>
          </a:p>
        </p:txBody>
      </p:sp>
      <p:sp>
        <p:nvSpPr>
          <p:cNvPr id="6" name="Shape 4"/>
          <p:cNvSpPr/>
          <p:nvPr/>
        </p:nvSpPr>
        <p:spPr>
          <a:xfrm>
            <a:off x="548640" y="914400"/>
            <a:ext cx="5394960" cy="5029200"/>
          </a:xfrm>
          <a:prstGeom prst="roundRect">
            <a:avLst>
              <a:gd name="adj" fmla="val 1455"/>
            </a:avLst>
          </a:prstGeom>
          <a:solidFill>
            <a:srgbClr val="F4F4F4"/>
          </a:solidFill>
          <a:ln/>
          <a:effectLst>
            <a:outerShdw sx="100000" sy="100000" kx="0" ky="0" algn="bl" rotWithShape="0" blurRad="76200" dist="25400" dir="5400000">
              <a:srgbClr val="000000">
                <a:alpha val="12000"/>
              </a:srgbClr>
            </a:outerShdw>
          </a:effectLst>
        </p:spPr>
      </p:sp>
      <p:pic>
        <p:nvPicPr>
          <p:cNvPr id="7" name="Image 0" descr="/home/claude/charts/chart_2.png">    </p:cNvPr>
          <p:cNvPicPr>
            <a:picLocks noChangeAspect="1"/>
          </p:cNvPicPr>
          <p:nvPr/>
        </p:nvPicPr>
        <p:blipFill>
          <a:blip r:embed="rId1"/>
          <a:stretch>
            <a:fillRect/>
          </a:stretch>
        </p:blipFill>
        <p:spPr>
          <a:xfrm>
            <a:off x="548640" y="1220830"/>
            <a:ext cx="5394960" cy="4416339"/>
          </a:xfrm>
          <a:prstGeom prst="rect">
            <a:avLst/>
          </a:prstGeom>
        </p:spPr>
      </p:pic>
      <p:sp>
        <p:nvSpPr>
          <p:cNvPr id="8" name="Text 5"/>
          <p:cNvSpPr/>
          <p:nvPr/>
        </p:nvSpPr>
        <p:spPr>
          <a:xfrm>
            <a:off x="457200" y="6537960"/>
            <a:ext cx="5486400" cy="274320"/>
          </a:xfrm>
          <a:prstGeom prst="rect">
            <a:avLst/>
          </a:prstGeom>
          <a:noFill/>
          <a:ln/>
        </p:spPr>
        <p:txBody>
          <a:bodyPr wrap="square" rtlCol="0" anchor="ctr"/>
          <a:lstStyle/>
          <a:p>
            <a:pPr indent="0" marL="0">
              <a:buNone/>
            </a:pPr>
            <a:r>
              <a:rPr lang="en-US" sz="900" dirty="0">
                <a:solidFill>
                  <a:srgbClr val="6B6B6B"/>
                </a:solidFill>
                <a:latin typeface="Calibri" pitchFamily="34" charset="0"/>
                <a:ea typeface="Calibri" pitchFamily="34" charset="-122"/>
                <a:cs typeface="Calibri" pitchFamily="34" charset="-120"/>
              </a:rPr>
              <a:t>Balaji Fast Food Sales Analysis</a:t>
            </a:r>
            <a:endParaRPr lang="en-US" sz="900" dirty="0"/>
          </a:p>
        </p:txBody>
      </p:sp>
      <p:sp>
        <p:nvSpPr>
          <p:cNvPr id="9" name="Text 6"/>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5394960" cy="320040"/>
          </a:xfrm>
          <a:prstGeom prst="rect">
            <a:avLst/>
          </a:prstGeom>
          <a:noFill/>
          <a:ln/>
        </p:spPr>
        <p:txBody>
          <a:bodyPr wrap="square" rtlCol="0" anchor="ctr"/>
          <a:lstStyle/>
          <a:p>
            <a:pPr indent="0" marL="0">
              <a:buNone/>
            </a:pPr>
            <a:r>
              <a:rPr lang="en-US" sz="1200" b="1" spc="150" kern="0" dirty="0">
                <a:solidFill>
                  <a:srgbClr val="C1272D"/>
                </a:solidFill>
                <a:latin typeface="Calibri" pitchFamily="34" charset="0"/>
                <a:ea typeface="Calibri" pitchFamily="34" charset="-122"/>
                <a:cs typeface="Calibri" pitchFamily="34" charset="-120"/>
              </a:rPr>
              <a:t>VISUAL 3 OF 9  ·  BAR CHART</a:t>
            </a:r>
            <a:endParaRPr lang="en-US" sz="1200" dirty="0"/>
          </a:p>
        </p:txBody>
      </p:sp>
      <p:sp>
        <p:nvSpPr>
          <p:cNvPr id="3" name="Text 1"/>
          <p:cNvSpPr/>
          <p:nvPr/>
        </p:nvSpPr>
        <p:spPr>
          <a:xfrm>
            <a:off x="548640" y="822960"/>
            <a:ext cx="5394960" cy="914400"/>
          </a:xfrm>
          <a:prstGeom prst="rect">
            <a:avLst/>
          </a:prstGeom>
          <a:noFill/>
          <a:ln/>
        </p:spPr>
        <p:txBody>
          <a:bodyPr wrap="square" rtlCol="0" anchor="ctr"/>
          <a:lstStyle/>
          <a:p>
            <a:pPr indent="0" marL="0">
              <a:lnSpc>
                <a:spcPct val="105000"/>
              </a:lnSpc>
              <a:buNone/>
            </a:pPr>
            <a:r>
              <a:rPr lang="en-US" sz="2700" b="1" dirty="0">
                <a:solidFill>
                  <a:srgbClr val="1B1B1B"/>
                </a:solidFill>
                <a:latin typeface="Cambria" pitchFamily="34" charset="0"/>
                <a:ea typeface="Cambria" pitchFamily="34" charset="-122"/>
                <a:cs typeface="Cambria" pitchFamily="34" charset="-120"/>
              </a:rPr>
              <a:t>Quantity Sold by Product</a:t>
            </a:r>
            <a:endParaRPr lang="en-US" sz="2700" dirty="0"/>
          </a:p>
        </p:txBody>
      </p:sp>
      <p:sp>
        <p:nvSpPr>
          <p:cNvPr id="4" name="Shape 2"/>
          <p:cNvSpPr/>
          <p:nvPr/>
        </p:nvSpPr>
        <p:spPr>
          <a:xfrm>
            <a:off x="548640" y="1874520"/>
            <a:ext cx="640080" cy="0"/>
          </a:xfrm>
          <a:prstGeom prst="line">
            <a:avLst/>
          </a:prstGeom>
          <a:noFill/>
          <a:ln w="31750">
            <a:solidFill>
              <a:srgbClr val="F4A300"/>
            </a:solidFill>
            <a:prstDash val="solid"/>
          </a:ln>
        </p:spPr>
      </p:sp>
      <p:sp>
        <p:nvSpPr>
          <p:cNvPr id="5" name="Text 3"/>
          <p:cNvSpPr/>
          <p:nvPr/>
        </p:nvSpPr>
        <p:spPr>
          <a:xfrm>
            <a:off x="548640" y="2148840"/>
            <a:ext cx="5394960" cy="2377440"/>
          </a:xfrm>
          <a:prstGeom prst="rect">
            <a:avLst/>
          </a:prstGeom>
          <a:noFill/>
          <a:ln/>
        </p:spPr>
        <p:txBody>
          <a:bodyPr wrap="square" rtlCol="0" anchor="t"/>
          <a:lstStyle/>
          <a:p>
            <a:pPr marL="342900" indent="-342900">
              <a:lnSpc>
                <a:spcPct val="125000"/>
              </a:lnSpc>
              <a:spcAft>
                <a:spcPts val="1600"/>
              </a:spcAft>
              <a:buSzPct val="100000"/>
              <a:buChar char="•"/>
            </a:pPr>
            <a:r>
              <a:rPr lang="en-US" sz="1400" dirty="0">
                <a:solidFill>
                  <a:srgbClr val="1B1B1B"/>
                </a:solidFill>
                <a:latin typeface="Calibri" pitchFamily="34" charset="0"/>
                <a:ea typeface="Calibri" pitchFamily="34" charset="-122"/>
                <a:cs typeface="Calibri" pitchFamily="34" charset="-120"/>
              </a:rPr>
              <a:t>Compares the number of units sold for each product</a:t>
            </a:r>
            <a:endParaRPr lang="en-US" sz="1400" dirty="0"/>
          </a:p>
          <a:p>
            <a:pPr marL="342900" indent="-342900">
              <a:lnSpc>
                <a:spcPct val="125000"/>
              </a:lnSpc>
              <a:spcAft>
                <a:spcPts val="1600"/>
              </a:spcAft>
              <a:buSzPct val="100000"/>
              <a:buChar char="•"/>
            </a:pPr>
            <a:r>
              <a:rPr lang="en-US" sz="1400" dirty="0">
                <a:solidFill>
                  <a:srgbClr val="1B1B1B"/>
                </a:solidFill>
                <a:latin typeface="Calibri" pitchFamily="34" charset="0"/>
                <a:ea typeface="Calibri" pitchFamily="34" charset="-122"/>
                <a:cs typeface="Calibri" pitchFamily="34" charset="-120"/>
              </a:rPr>
              <a:t>Identifies the most and least frequently sold items</a:t>
            </a:r>
            <a:endParaRPr lang="en-US" sz="1400" dirty="0"/>
          </a:p>
        </p:txBody>
      </p:sp>
      <p:sp>
        <p:nvSpPr>
          <p:cNvPr id="6" name="Shape 4"/>
          <p:cNvSpPr/>
          <p:nvPr/>
        </p:nvSpPr>
        <p:spPr>
          <a:xfrm>
            <a:off x="6400800" y="914400"/>
            <a:ext cx="5394960" cy="5029200"/>
          </a:xfrm>
          <a:prstGeom prst="roundRect">
            <a:avLst>
              <a:gd name="adj" fmla="val 1455"/>
            </a:avLst>
          </a:prstGeom>
          <a:solidFill>
            <a:srgbClr val="F4F4F4"/>
          </a:solidFill>
          <a:ln/>
          <a:effectLst>
            <a:outerShdw sx="100000" sy="100000" kx="0" ky="0" algn="bl" rotWithShape="0" blurRad="76200" dist="25400" dir="5400000">
              <a:srgbClr val="000000">
                <a:alpha val="12000"/>
              </a:srgbClr>
            </a:outerShdw>
          </a:effectLst>
        </p:spPr>
      </p:sp>
      <p:pic>
        <p:nvPicPr>
          <p:cNvPr id="7" name="Image 0" descr="/home/claude/charts/chart_3.png">    </p:cNvPr>
          <p:cNvPicPr>
            <a:picLocks noChangeAspect="1"/>
          </p:cNvPicPr>
          <p:nvPr/>
        </p:nvPicPr>
        <p:blipFill>
          <a:blip r:embed="rId1"/>
          <a:stretch>
            <a:fillRect/>
          </a:stretch>
        </p:blipFill>
        <p:spPr>
          <a:xfrm>
            <a:off x="6400800" y="1723841"/>
            <a:ext cx="5394960" cy="3410318"/>
          </a:xfrm>
          <a:prstGeom prst="rect">
            <a:avLst/>
          </a:prstGeom>
        </p:spPr>
      </p:pic>
      <p:sp>
        <p:nvSpPr>
          <p:cNvPr id="8" name="Text 5"/>
          <p:cNvSpPr/>
          <p:nvPr/>
        </p:nvSpPr>
        <p:spPr>
          <a:xfrm>
            <a:off x="457200" y="6537960"/>
            <a:ext cx="5486400" cy="274320"/>
          </a:xfrm>
          <a:prstGeom prst="rect">
            <a:avLst/>
          </a:prstGeom>
          <a:noFill/>
          <a:ln/>
        </p:spPr>
        <p:txBody>
          <a:bodyPr wrap="square" rtlCol="0" anchor="ctr"/>
          <a:lstStyle/>
          <a:p>
            <a:pPr indent="0" marL="0">
              <a:buNone/>
            </a:pPr>
            <a:r>
              <a:rPr lang="en-US" sz="900" dirty="0">
                <a:solidFill>
                  <a:srgbClr val="6B6B6B"/>
                </a:solidFill>
                <a:latin typeface="Calibri" pitchFamily="34" charset="0"/>
                <a:ea typeface="Calibri" pitchFamily="34" charset="-122"/>
                <a:cs typeface="Calibri" pitchFamily="34" charset="-120"/>
              </a:rPr>
              <a:t>Balaji Fast Food Sales Analysis</a:t>
            </a:r>
            <a:endParaRPr lang="en-US" sz="900" dirty="0"/>
          </a:p>
        </p:txBody>
      </p:sp>
      <p:sp>
        <p:nvSpPr>
          <p:cNvPr id="9" name="Text 6"/>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0" y="502920"/>
            <a:ext cx="5394960" cy="320040"/>
          </a:xfrm>
          <a:prstGeom prst="rect">
            <a:avLst/>
          </a:prstGeom>
          <a:noFill/>
          <a:ln/>
        </p:spPr>
        <p:txBody>
          <a:bodyPr wrap="square" rtlCol="0" anchor="ctr"/>
          <a:lstStyle/>
          <a:p>
            <a:pPr indent="0" marL="0">
              <a:buNone/>
            </a:pPr>
            <a:r>
              <a:rPr lang="en-US" sz="1200" b="1" spc="150" kern="0" dirty="0">
                <a:solidFill>
                  <a:srgbClr val="C1272D"/>
                </a:solidFill>
                <a:latin typeface="Calibri" pitchFamily="34" charset="0"/>
                <a:ea typeface="Calibri" pitchFamily="34" charset="-122"/>
                <a:cs typeface="Calibri" pitchFamily="34" charset="-120"/>
              </a:rPr>
              <a:t>VISUAL 4 OF 9  ·  PIE CHART</a:t>
            </a:r>
            <a:endParaRPr lang="en-US" sz="1200" dirty="0"/>
          </a:p>
        </p:txBody>
      </p:sp>
      <p:sp>
        <p:nvSpPr>
          <p:cNvPr id="3" name="Text 1"/>
          <p:cNvSpPr/>
          <p:nvPr/>
        </p:nvSpPr>
        <p:spPr>
          <a:xfrm>
            <a:off x="6400800" y="822960"/>
            <a:ext cx="5394960" cy="914400"/>
          </a:xfrm>
          <a:prstGeom prst="rect">
            <a:avLst/>
          </a:prstGeom>
          <a:noFill/>
          <a:ln/>
        </p:spPr>
        <p:txBody>
          <a:bodyPr wrap="square" rtlCol="0" anchor="ctr"/>
          <a:lstStyle/>
          <a:p>
            <a:pPr indent="0" marL="0">
              <a:lnSpc>
                <a:spcPct val="105000"/>
              </a:lnSpc>
              <a:buNone/>
            </a:pPr>
            <a:r>
              <a:rPr lang="en-US" sz="2700" b="1" dirty="0">
                <a:solidFill>
                  <a:srgbClr val="1B1B1B"/>
                </a:solidFill>
                <a:latin typeface="Cambria" pitchFamily="34" charset="0"/>
                <a:ea typeface="Cambria" pitchFamily="34" charset="-122"/>
                <a:cs typeface="Cambria" pitchFamily="34" charset="-120"/>
              </a:rPr>
              <a:t>Transaction Type Distribution</a:t>
            </a:r>
            <a:endParaRPr lang="en-US" sz="2700" dirty="0"/>
          </a:p>
        </p:txBody>
      </p:sp>
      <p:sp>
        <p:nvSpPr>
          <p:cNvPr id="4" name="Shape 2"/>
          <p:cNvSpPr/>
          <p:nvPr/>
        </p:nvSpPr>
        <p:spPr>
          <a:xfrm>
            <a:off x="6400800" y="1874520"/>
            <a:ext cx="640080" cy="0"/>
          </a:xfrm>
          <a:prstGeom prst="line">
            <a:avLst/>
          </a:prstGeom>
          <a:noFill/>
          <a:ln w="31750">
            <a:solidFill>
              <a:srgbClr val="F4A300"/>
            </a:solidFill>
            <a:prstDash val="solid"/>
          </a:ln>
        </p:spPr>
      </p:sp>
      <p:sp>
        <p:nvSpPr>
          <p:cNvPr id="5" name="Text 3"/>
          <p:cNvSpPr/>
          <p:nvPr/>
        </p:nvSpPr>
        <p:spPr>
          <a:xfrm>
            <a:off x="6400800" y="2148840"/>
            <a:ext cx="5394960" cy="2377440"/>
          </a:xfrm>
          <a:prstGeom prst="rect">
            <a:avLst/>
          </a:prstGeom>
          <a:noFill/>
          <a:ln/>
        </p:spPr>
        <p:txBody>
          <a:bodyPr wrap="square" rtlCol="0" anchor="t"/>
          <a:lstStyle/>
          <a:p>
            <a:pPr marL="342900" indent="-342900">
              <a:lnSpc>
                <a:spcPct val="125000"/>
              </a:lnSpc>
              <a:spcAft>
                <a:spcPts val="1600"/>
              </a:spcAft>
              <a:buSzPct val="100000"/>
              <a:buChar char="•"/>
            </a:pPr>
            <a:r>
              <a:rPr lang="en-US" sz="1400" dirty="0">
                <a:solidFill>
                  <a:srgbClr val="1B1B1B"/>
                </a:solidFill>
                <a:latin typeface="Calibri" pitchFamily="34" charset="0"/>
                <a:ea typeface="Calibri" pitchFamily="34" charset="-122"/>
                <a:cs typeface="Calibri" pitchFamily="34" charset="-120"/>
              </a:rPr>
              <a:t>Breaks down transactions by payment method: Cash, Online &amp; Unknown</a:t>
            </a:r>
            <a:endParaRPr lang="en-US" sz="1400" dirty="0"/>
          </a:p>
          <a:p>
            <a:pPr marL="342900" indent="-342900">
              <a:lnSpc>
                <a:spcPct val="125000"/>
              </a:lnSpc>
              <a:spcAft>
                <a:spcPts val="1600"/>
              </a:spcAft>
              <a:buSzPct val="100000"/>
              <a:buChar char="•"/>
            </a:pPr>
            <a:r>
              <a:rPr lang="en-US" sz="1400" dirty="0">
                <a:solidFill>
                  <a:srgbClr val="1B1B1B"/>
                </a:solidFill>
                <a:latin typeface="Calibri" pitchFamily="34" charset="0"/>
                <a:ea typeface="Calibri" pitchFamily="34" charset="-122"/>
                <a:cs typeface="Calibri" pitchFamily="34" charset="-120"/>
              </a:rPr>
              <a:t>Cash was the most common method, at roughly 48% of transactions</a:t>
            </a:r>
            <a:endParaRPr lang="en-US" sz="1400" dirty="0"/>
          </a:p>
        </p:txBody>
      </p:sp>
      <p:sp>
        <p:nvSpPr>
          <p:cNvPr id="6" name="Shape 4"/>
          <p:cNvSpPr/>
          <p:nvPr/>
        </p:nvSpPr>
        <p:spPr>
          <a:xfrm>
            <a:off x="548640" y="914400"/>
            <a:ext cx="5394960" cy="5029200"/>
          </a:xfrm>
          <a:prstGeom prst="roundRect">
            <a:avLst>
              <a:gd name="adj" fmla="val 1455"/>
            </a:avLst>
          </a:prstGeom>
          <a:solidFill>
            <a:srgbClr val="F4F4F4"/>
          </a:solidFill>
          <a:ln/>
          <a:effectLst>
            <a:outerShdw sx="100000" sy="100000" kx="0" ky="0" algn="bl" rotWithShape="0" blurRad="76200" dist="25400" dir="5400000">
              <a:srgbClr val="000000">
                <a:alpha val="12000"/>
              </a:srgbClr>
            </a:outerShdw>
          </a:effectLst>
        </p:spPr>
      </p:sp>
      <p:pic>
        <p:nvPicPr>
          <p:cNvPr id="7" name="Image 0" descr="/home/claude/charts/chart_4.png">    </p:cNvPr>
          <p:cNvPicPr>
            <a:picLocks noChangeAspect="1"/>
          </p:cNvPicPr>
          <p:nvPr/>
        </p:nvPicPr>
        <p:blipFill>
          <a:blip r:embed="rId1"/>
          <a:stretch>
            <a:fillRect/>
          </a:stretch>
        </p:blipFill>
        <p:spPr>
          <a:xfrm>
            <a:off x="831330" y="1005840"/>
            <a:ext cx="4829580" cy="4846320"/>
          </a:xfrm>
          <a:prstGeom prst="rect">
            <a:avLst/>
          </a:prstGeom>
        </p:spPr>
      </p:pic>
      <p:sp>
        <p:nvSpPr>
          <p:cNvPr id="8" name="Text 5"/>
          <p:cNvSpPr/>
          <p:nvPr/>
        </p:nvSpPr>
        <p:spPr>
          <a:xfrm>
            <a:off x="457200" y="6537960"/>
            <a:ext cx="5486400" cy="274320"/>
          </a:xfrm>
          <a:prstGeom prst="rect">
            <a:avLst/>
          </a:prstGeom>
          <a:noFill/>
          <a:ln/>
        </p:spPr>
        <p:txBody>
          <a:bodyPr wrap="square" rtlCol="0" anchor="ctr"/>
          <a:lstStyle/>
          <a:p>
            <a:pPr indent="0" marL="0">
              <a:buNone/>
            </a:pPr>
            <a:r>
              <a:rPr lang="en-US" sz="900" dirty="0">
                <a:solidFill>
                  <a:srgbClr val="6B6B6B"/>
                </a:solidFill>
                <a:latin typeface="Calibri" pitchFamily="34" charset="0"/>
                <a:ea typeface="Calibri" pitchFamily="34" charset="-122"/>
                <a:cs typeface="Calibri" pitchFamily="34" charset="-120"/>
              </a:rPr>
              <a:t>Balaji Fast Food Sales Analysis</a:t>
            </a:r>
            <a:endParaRPr lang="en-US" sz="900" dirty="0"/>
          </a:p>
        </p:txBody>
      </p:sp>
      <p:sp>
        <p:nvSpPr>
          <p:cNvPr id="9" name="Text 6"/>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5394960" cy="320040"/>
          </a:xfrm>
          <a:prstGeom prst="rect">
            <a:avLst/>
          </a:prstGeom>
          <a:noFill/>
          <a:ln/>
        </p:spPr>
        <p:txBody>
          <a:bodyPr wrap="square" rtlCol="0" anchor="ctr"/>
          <a:lstStyle/>
          <a:p>
            <a:pPr indent="0" marL="0">
              <a:buNone/>
            </a:pPr>
            <a:r>
              <a:rPr lang="en-US" sz="1200" b="1" spc="150" kern="0" dirty="0">
                <a:solidFill>
                  <a:srgbClr val="C1272D"/>
                </a:solidFill>
                <a:latin typeface="Calibri" pitchFamily="34" charset="0"/>
                <a:ea typeface="Calibri" pitchFamily="34" charset="-122"/>
                <a:cs typeface="Calibri" pitchFamily="34" charset="-120"/>
              </a:rPr>
              <a:t>VISUAL 5 OF 9  ·  BAR CHART</a:t>
            </a:r>
            <a:endParaRPr lang="en-US" sz="1200" dirty="0"/>
          </a:p>
        </p:txBody>
      </p:sp>
      <p:sp>
        <p:nvSpPr>
          <p:cNvPr id="3" name="Text 1"/>
          <p:cNvSpPr/>
          <p:nvPr/>
        </p:nvSpPr>
        <p:spPr>
          <a:xfrm>
            <a:off x="548640" y="822960"/>
            <a:ext cx="5394960" cy="914400"/>
          </a:xfrm>
          <a:prstGeom prst="rect">
            <a:avLst/>
          </a:prstGeom>
          <a:noFill/>
          <a:ln/>
        </p:spPr>
        <p:txBody>
          <a:bodyPr wrap="square" rtlCol="0" anchor="ctr"/>
          <a:lstStyle/>
          <a:p>
            <a:pPr indent="0" marL="0">
              <a:lnSpc>
                <a:spcPct val="105000"/>
              </a:lnSpc>
              <a:buNone/>
            </a:pPr>
            <a:r>
              <a:rPr lang="en-US" sz="2700" b="1" dirty="0">
                <a:solidFill>
                  <a:srgbClr val="1B1B1B"/>
                </a:solidFill>
                <a:latin typeface="Cambria" pitchFamily="34" charset="0"/>
                <a:ea typeface="Cambria" pitchFamily="34" charset="-122"/>
                <a:cs typeface="Cambria" pitchFamily="34" charset="-120"/>
              </a:rPr>
              <a:t>Sales by Time of Sale</a:t>
            </a:r>
            <a:endParaRPr lang="en-US" sz="2700" dirty="0"/>
          </a:p>
        </p:txBody>
      </p:sp>
      <p:sp>
        <p:nvSpPr>
          <p:cNvPr id="4" name="Shape 2"/>
          <p:cNvSpPr/>
          <p:nvPr/>
        </p:nvSpPr>
        <p:spPr>
          <a:xfrm>
            <a:off x="548640" y="1874520"/>
            <a:ext cx="640080" cy="0"/>
          </a:xfrm>
          <a:prstGeom prst="line">
            <a:avLst/>
          </a:prstGeom>
          <a:noFill/>
          <a:ln w="31750">
            <a:solidFill>
              <a:srgbClr val="F4A300"/>
            </a:solidFill>
            <a:prstDash val="solid"/>
          </a:ln>
        </p:spPr>
      </p:sp>
      <p:sp>
        <p:nvSpPr>
          <p:cNvPr id="5" name="Text 3"/>
          <p:cNvSpPr/>
          <p:nvPr/>
        </p:nvSpPr>
        <p:spPr>
          <a:xfrm>
            <a:off x="548640" y="2148840"/>
            <a:ext cx="5394960" cy="2377440"/>
          </a:xfrm>
          <a:prstGeom prst="rect">
            <a:avLst/>
          </a:prstGeom>
          <a:noFill/>
          <a:ln/>
        </p:spPr>
        <p:txBody>
          <a:bodyPr wrap="square" rtlCol="0" anchor="t"/>
          <a:lstStyle/>
          <a:p>
            <a:pPr marL="342900" indent="-342900">
              <a:lnSpc>
                <a:spcPct val="125000"/>
              </a:lnSpc>
              <a:spcAft>
                <a:spcPts val="1600"/>
              </a:spcAft>
              <a:buSzPct val="100000"/>
              <a:buChar char="•"/>
            </a:pPr>
            <a:r>
              <a:rPr lang="en-US" sz="1400" dirty="0">
                <a:solidFill>
                  <a:srgbClr val="1B1B1B"/>
                </a:solidFill>
                <a:latin typeface="Calibri" pitchFamily="34" charset="0"/>
                <a:ea typeface="Calibri" pitchFamily="34" charset="-122"/>
                <a:cs typeface="Calibri" pitchFamily="34" charset="-120"/>
              </a:rPr>
              <a:t>Compares total sales across five time-of-day periods</a:t>
            </a:r>
            <a:endParaRPr lang="en-US" sz="1400" dirty="0"/>
          </a:p>
          <a:p>
            <a:pPr marL="342900" indent="-342900">
              <a:lnSpc>
                <a:spcPct val="125000"/>
              </a:lnSpc>
              <a:spcAft>
                <a:spcPts val="1600"/>
              </a:spcAft>
              <a:buSzPct val="100000"/>
              <a:buChar char="•"/>
            </a:pPr>
            <a:r>
              <a:rPr lang="en-US" sz="1400" dirty="0">
                <a:solidFill>
                  <a:srgbClr val="1B1B1B"/>
                </a:solidFill>
                <a:latin typeface="Calibri" pitchFamily="34" charset="0"/>
                <a:ea typeface="Calibri" pitchFamily="34" charset="-122"/>
                <a:cs typeface="Calibri" pitchFamily="34" charset="-120"/>
              </a:rPr>
              <a:t>Night was the busiest period, generating the highest total sales</a:t>
            </a:r>
            <a:endParaRPr lang="en-US" sz="1400" dirty="0"/>
          </a:p>
        </p:txBody>
      </p:sp>
      <p:sp>
        <p:nvSpPr>
          <p:cNvPr id="6" name="Shape 4"/>
          <p:cNvSpPr/>
          <p:nvPr/>
        </p:nvSpPr>
        <p:spPr>
          <a:xfrm>
            <a:off x="6400800" y="914400"/>
            <a:ext cx="5394960" cy="5029200"/>
          </a:xfrm>
          <a:prstGeom prst="roundRect">
            <a:avLst>
              <a:gd name="adj" fmla="val 1455"/>
            </a:avLst>
          </a:prstGeom>
          <a:solidFill>
            <a:srgbClr val="F4F4F4"/>
          </a:solidFill>
          <a:ln/>
          <a:effectLst>
            <a:outerShdw sx="100000" sy="100000" kx="0" ky="0" algn="bl" rotWithShape="0" blurRad="76200" dist="25400" dir="5400000">
              <a:srgbClr val="000000">
                <a:alpha val="12000"/>
              </a:srgbClr>
            </a:outerShdw>
          </a:effectLst>
        </p:spPr>
      </p:sp>
      <p:pic>
        <p:nvPicPr>
          <p:cNvPr id="7" name="Image 0" descr="/home/claude/charts/chart_5.png">    </p:cNvPr>
          <p:cNvPicPr>
            <a:picLocks noChangeAspect="1"/>
          </p:cNvPicPr>
          <p:nvPr/>
        </p:nvPicPr>
        <p:blipFill>
          <a:blip r:embed="rId1"/>
          <a:stretch>
            <a:fillRect/>
          </a:stretch>
        </p:blipFill>
        <p:spPr>
          <a:xfrm>
            <a:off x="6400800" y="1491960"/>
            <a:ext cx="5394960" cy="3874081"/>
          </a:xfrm>
          <a:prstGeom prst="rect">
            <a:avLst/>
          </a:prstGeom>
        </p:spPr>
      </p:pic>
      <p:sp>
        <p:nvSpPr>
          <p:cNvPr id="8" name="Text 5"/>
          <p:cNvSpPr/>
          <p:nvPr/>
        </p:nvSpPr>
        <p:spPr>
          <a:xfrm>
            <a:off x="457200" y="6537960"/>
            <a:ext cx="5486400" cy="274320"/>
          </a:xfrm>
          <a:prstGeom prst="rect">
            <a:avLst/>
          </a:prstGeom>
          <a:noFill/>
          <a:ln/>
        </p:spPr>
        <p:txBody>
          <a:bodyPr wrap="square" rtlCol="0" anchor="ctr"/>
          <a:lstStyle/>
          <a:p>
            <a:pPr indent="0" marL="0">
              <a:buNone/>
            </a:pPr>
            <a:r>
              <a:rPr lang="en-US" sz="900" dirty="0">
                <a:solidFill>
                  <a:srgbClr val="6B6B6B"/>
                </a:solidFill>
                <a:latin typeface="Calibri" pitchFamily="34" charset="0"/>
                <a:ea typeface="Calibri" pitchFamily="34" charset="-122"/>
                <a:cs typeface="Calibri" pitchFamily="34" charset="-120"/>
              </a:rPr>
              <a:t>Balaji Fast Food Sales Analysis</a:t>
            </a:r>
            <a:endParaRPr lang="en-US" sz="900" dirty="0"/>
          </a:p>
        </p:txBody>
      </p:sp>
      <p:sp>
        <p:nvSpPr>
          <p:cNvPr id="9" name="Text 6"/>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0" y="502920"/>
            <a:ext cx="5394960" cy="320040"/>
          </a:xfrm>
          <a:prstGeom prst="rect">
            <a:avLst/>
          </a:prstGeom>
          <a:noFill/>
          <a:ln/>
        </p:spPr>
        <p:txBody>
          <a:bodyPr wrap="square" rtlCol="0" anchor="ctr"/>
          <a:lstStyle/>
          <a:p>
            <a:pPr indent="0" marL="0">
              <a:buNone/>
            </a:pPr>
            <a:r>
              <a:rPr lang="en-US" sz="1200" b="1" spc="150" kern="0" dirty="0">
                <a:solidFill>
                  <a:srgbClr val="C1272D"/>
                </a:solidFill>
                <a:latin typeface="Calibri" pitchFamily="34" charset="0"/>
                <a:ea typeface="Calibri" pitchFamily="34" charset="-122"/>
                <a:cs typeface="Calibri" pitchFamily="34" charset="-120"/>
              </a:rPr>
              <a:t>VISUAL 6 OF 9  ·  LINE CHART</a:t>
            </a:r>
            <a:endParaRPr lang="en-US" sz="1200" dirty="0"/>
          </a:p>
        </p:txBody>
      </p:sp>
      <p:sp>
        <p:nvSpPr>
          <p:cNvPr id="3" name="Text 1"/>
          <p:cNvSpPr/>
          <p:nvPr/>
        </p:nvSpPr>
        <p:spPr>
          <a:xfrm>
            <a:off x="6400800" y="822960"/>
            <a:ext cx="5394960" cy="914400"/>
          </a:xfrm>
          <a:prstGeom prst="rect">
            <a:avLst/>
          </a:prstGeom>
          <a:noFill/>
          <a:ln/>
        </p:spPr>
        <p:txBody>
          <a:bodyPr wrap="square" rtlCol="0" anchor="ctr"/>
          <a:lstStyle/>
          <a:p>
            <a:pPr indent="0" marL="0">
              <a:lnSpc>
                <a:spcPct val="105000"/>
              </a:lnSpc>
              <a:buNone/>
            </a:pPr>
            <a:r>
              <a:rPr lang="en-US" sz="2700" b="1" dirty="0">
                <a:solidFill>
                  <a:srgbClr val="1B1B1B"/>
                </a:solidFill>
                <a:latin typeface="Cambria" pitchFamily="34" charset="0"/>
                <a:ea typeface="Cambria" pitchFamily="34" charset="-122"/>
                <a:cs typeface="Cambria" pitchFamily="34" charset="-120"/>
              </a:rPr>
              <a:t>Monthly Sales Trend</a:t>
            </a:r>
            <a:endParaRPr lang="en-US" sz="2700" dirty="0"/>
          </a:p>
        </p:txBody>
      </p:sp>
      <p:sp>
        <p:nvSpPr>
          <p:cNvPr id="4" name="Shape 2"/>
          <p:cNvSpPr/>
          <p:nvPr/>
        </p:nvSpPr>
        <p:spPr>
          <a:xfrm>
            <a:off x="6400800" y="1874520"/>
            <a:ext cx="640080" cy="0"/>
          </a:xfrm>
          <a:prstGeom prst="line">
            <a:avLst/>
          </a:prstGeom>
          <a:noFill/>
          <a:ln w="31750">
            <a:solidFill>
              <a:srgbClr val="F4A300"/>
            </a:solidFill>
            <a:prstDash val="solid"/>
          </a:ln>
        </p:spPr>
      </p:sp>
      <p:sp>
        <p:nvSpPr>
          <p:cNvPr id="5" name="Text 3"/>
          <p:cNvSpPr/>
          <p:nvPr/>
        </p:nvSpPr>
        <p:spPr>
          <a:xfrm>
            <a:off x="6400800" y="2148840"/>
            <a:ext cx="5394960" cy="2377440"/>
          </a:xfrm>
          <a:prstGeom prst="rect">
            <a:avLst/>
          </a:prstGeom>
          <a:noFill/>
          <a:ln/>
        </p:spPr>
        <p:txBody>
          <a:bodyPr wrap="square" rtlCol="0" anchor="t"/>
          <a:lstStyle/>
          <a:p>
            <a:pPr marL="342900" indent="-342900">
              <a:lnSpc>
                <a:spcPct val="125000"/>
              </a:lnSpc>
              <a:spcAft>
                <a:spcPts val="1600"/>
              </a:spcAft>
              <a:buSzPct val="100000"/>
              <a:buChar char="•"/>
            </a:pPr>
            <a:r>
              <a:rPr lang="en-US" sz="1400" dirty="0">
                <a:solidFill>
                  <a:srgbClr val="1B1B1B"/>
                </a:solidFill>
                <a:latin typeface="Calibri" pitchFamily="34" charset="0"/>
                <a:ea typeface="Calibri" pitchFamily="34" charset="-122"/>
                <a:cs typeface="Calibri" pitchFamily="34" charset="-120"/>
              </a:rPr>
              <a:t>Tracks total sales across 12 months, from Apr 2022 to Mar 2023</a:t>
            </a:r>
            <a:endParaRPr lang="en-US" sz="1400" dirty="0"/>
          </a:p>
          <a:p>
            <a:pPr marL="342900" indent="-342900">
              <a:lnSpc>
                <a:spcPct val="125000"/>
              </a:lnSpc>
              <a:spcAft>
                <a:spcPts val="1600"/>
              </a:spcAft>
              <a:buSzPct val="100000"/>
              <a:buChar char="•"/>
            </a:pPr>
            <a:r>
              <a:rPr lang="en-US" sz="1400" dirty="0">
                <a:solidFill>
                  <a:srgbClr val="1B1B1B"/>
                </a:solidFill>
                <a:latin typeface="Calibri" pitchFamily="34" charset="0"/>
                <a:ea typeface="Calibri" pitchFamily="34" charset="-122"/>
                <a:cs typeface="Calibri" pitchFamily="34" charset="-120"/>
              </a:rPr>
              <a:t>Reveals the overall trend along with seasonal peaks and dips</a:t>
            </a:r>
            <a:endParaRPr lang="en-US" sz="1400" dirty="0"/>
          </a:p>
        </p:txBody>
      </p:sp>
      <p:sp>
        <p:nvSpPr>
          <p:cNvPr id="6" name="Shape 4"/>
          <p:cNvSpPr/>
          <p:nvPr/>
        </p:nvSpPr>
        <p:spPr>
          <a:xfrm>
            <a:off x="548640" y="914400"/>
            <a:ext cx="5394960" cy="5029200"/>
          </a:xfrm>
          <a:prstGeom prst="roundRect">
            <a:avLst>
              <a:gd name="adj" fmla="val 1455"/>
            </a:avLst>
          </a:prstGeom>
          <a:solidFill>
            <a:srgbClr val="F4F4F4"/>
          </a:solidFill>
          <a:ln/>
          <a:effectLst>
            <a:outerShdw sx="100000" sy="100000" kx="0" ky="0" algn="bl" rotWithShape="0" blurRad="76200" dist="25400" dir="5400000">
              <a:srgbClr val="000000">
                <a:alpha val="12000"/>
              </a:srgbClr>
            </a:outerShdw>
          </a:effectLst>
        </p:spPr>
      </p:sp>
      <p:pic>
        <p:nvPicPr>
          <p:cNvPr id="7" name="Image 0" descr="/home/claude/charts/chart_6.png">    </p:cNvPr>
          <p:cNvPicPr>
            <a:picLocks noChangeAspect="1"/>
          </p:cNvPicPr>
          <p:nvPr/>
        </p:nvPicPr>
        <p:blipFill>
          <a:blip r:embed="rId1"/>
          <a:stretch>
            <a:fillRect/>
          </a:stretch>
        </p:blipFill>
        <p:spPr>
          <a:xfrm>
            <a:off x="548640" y="2097399"/>
            <a:ext cx="5394960" cy="2663201"/>
          </a:xfrm>
          <a:prstGeom prst="rect">
            <a:avLst/>
          </a:prstGeom>
        </p:spPr>
      </p:pic>
      <p:sp>
        <p:nvSpPr>
          <p:cNvPr id="8" name="Text 5"/>
          <p:cNvSpPr/>
          <p:nvPr/>
        </p:nvSpPr>
        <p:spPr>
          <a:xfrm>
            <a:off x="457200" y="6537960"/>
            <a:ext cx="5486400" cy="274320"/>
          </a:xfrm>
          <a:prstGeom prst="rect">
            <a:avLst/>
          </a:prstGeom>
          <a:noFill/>
          <a:ln/>
        </p:spPr>
        <p:txBody>
          <a:bodyPr wrap="square" rtlCol="0" anchor="ctr"/>
          <a:lstStyle/>
          <a:p>
            <a:pPr indent="0" marL="0">
              <a:buNone/>
            </a:pPr>
            <a:r>
              <a:rPr lang="en-US" sz="900" dirty="0">
                <a:solidFill>
                  <a:srgbClr val="6B6B6B"/>
                </a:solidFill>
                <a:latin typeface="Calibri" pitchFamily="34" charset="0"/>
                <a:ea typeface="Calibri" pitchFamily="34" charset="-122"/>
                <a:cs typeface="Calibri" pitchFamily="34" charset="-120"/>
              </a:rPr>
              <a:t>Balaji Fast Food Sales Analysis</a:t>
            </a:r>
            <a:endParaRPr lang="en-US" sz="900" dirty="0"/>
          </a:p>
        </p:txBody>
      </p:sp>
      <p:sp>
        <p:nvSpPr>
          <p:cNvPr id="9" name="Text 6"/>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5394960" cy="320040"/>
          </a:xfrm>
          <a:prstGeom prst="rect">
            <a:avLst/>
          </a:prstGeom>
          <a:noFill/>
          <a:ln/>
        </p:spPr>
        <p:txBody>
          <a:bodyPr wrap="square" rtlCol="0" anchor="ctr"/>
          <a:lstStyle/>
          <a:p>
            <a:pPr indent="0" marL="0">
              <a:buNone/>
            </a:pPr>
            <a:r>
              <a:rPr lang="en-US" sz="1200" b="1" spc="150" kern="0" dirty="0">
                <a:solidFill>
                  <a:srgbClr val="C1272D"/>
                </a:solidFill>
                <a:latin typeface="Calibri" pitchFamily="34" charset="0"/>
                <a:ea typeface="Calibri" pitchFamily="34" charset="-122"/>
                <a:cs typeface="Calibri" pitchFamily="34" charset="-120"/>
              </a:rPr>
              <a:t>VISUAL 7 OF 9  ·  HISTOGRAM</a:t>
            </a:r>
            <a:endParaRPr lang="en-US" sz="1200" dirty="0"/>
          </a:p>
        </p:txBody>
      </p:sp>
      <p:sp>
        <p:nvSpPr>
          <p:cNvPr id="3" name="Text 1"/>
          <p:cNvSpPr/>
          <p:nvPr/>
        </p:nvSpPr>
        <p:spPr>
          <a:xfrm>
            <a:off x="548640" y="822960"/>
            <a:ext cx="5394960" cy="914400"/>
          </a:xfrm>
          <a:prstGeom prst="rect">
            <a:avLst/>
          </a:prstGeom>
          <a:noFill/>
          <a:ln/>
        </p:spPr>
        <p:txBody>
          <a:bodyPr wrap="square" rtlCol="0" anchor="ctr"/>
          <a:lstStyle/>
          <a:p>
            <a:pPr indent="0" marL="0">
              <a:lnSpc>
                <a:spcPct val="105000"/>
              </a:lnSpc>
              <a:buNone/>
            </a:pPr>
            <a:r>
              <a:rPr lang="en-US" sz="2700" b="1" dirty="0">
                <a:solidFill>
                  <a:srgbClr val="1B1B1B"/>
                </a:solidFill>
                <a:latin typeface="Cambria" pitchFamily="34" charset="0"/>
                <a:ea typeface="Cambria" pitchFamily="34" charset="-122"/>
                <a:cs typeface="Cambria" pitchFamily="34" charset="-120"/>
              </a:rPr>
              <a:t>Transaction Amount Distribution</a:t>
            </a:r>
            <a:endParaRPr lang="en-US" sz="2700" dirty="0"/>
          </a:p>
        </p:txBody>
      </p:sp>
      <p:sp>
        <p:nvSpPr>
          <p:cNvPr id="4" name="Shape 2"/>
          <p:cNvSpPr/>
          <p:nvPr/>
        </p:nvSpPr>
        <p:spPr>
          <a:xfrm>
            <a:off x="548640" y="1874520"/>
            <a:ext cx="640080" cy="0"/>
          </a:xfrm>
          <a:prstGeom prst="line">
            <a:avLst/>
          </a:prstGeom>
          <a:noFill/>
          <a:ln w="31750">
            <a:solidFill>
              <a:srgbClr val="F4A300"/>
            </a:solidFill>
            <a:prstDash val="solid"/>
          </a:ln>
        </p:spPr>
      </p:sp>
      <p:sp>
        <p:nvSpPr>
          <p:cNvPr id="5" name="Text 3"/>
          <p:cNvSpPr/>
          <p:nvPr/>
        </p:nvSpPr>
        <p:spPr>
          <a:xfrm>
            <a:off x="548640" y="2148840"/>
            <a:ext cx="5394960" cy="2377440"/>
          </a:xfrm>
          <a:prstGeom prst="rect">
            <a:avLst/>
          </a:prstGeom>
          <a:noFill/>
          <a:ln/>
        </p:spPr>
        <p:txBody>
          <a:bodyPr wrap="square" rtlCol="0" anchor="t"/>
          <a:lstStyle/>
          <a:p>
            <a:pPr marL="342900" indent="-342900">
              <a:lnSpc>
                <a:spcPct val="125000"/>
              </a:lnSpc>
              <a:spcAft>
                <a:spcPts val="1600"/>
              </a:spcAft>
              <a:buSzPct val="100000"/>
              <a:buChar char="•"/>
            </a:pPr>
            <a:r>
              <a:rPr lang="en-US" sz="1400" dirty="0">
                <a:solidFill>
                  <a:srgbClr val="1B1B1B"/>
                </a:solidFill>
                <a:latin typeface="Calibri" pitchFamily="34" charset="0"/>
                <a:ea typeface="Calibri" pitchFamily="34" charset="-122"/>
                <a:cs typeface="Calibri" pitchFamily="34" charset="-120"/>
              </a:rPr>
              <a:t>Shows how frequently different transaction amounts occur</a:t>
            </a:r>
            <a:endParaRPr lang="en-US" sz="1400" dirty="0"/>
          </a:p>
          <a:p>
            <a:pPr marL="342900" indent="-342900">
              <a:lnSpc>
                <a:spcPct val="125000"/>
              </a:lnSpc>
              <a:spcAft>
                <a:spcPts val="1600"/>
              </a:spcAft>
              <a:buSzPct val="100000"/>
              <a:buChar char="•"/>
            </a:pPr>
            <a:r>
              <a:rPr lang="en-US" sz="1400" dirty="0">
                <a:solidFill>
                  <a:srgbClr val="1B1B1B"/>
                </a:solidFill>
                <a:latin typeface="Calibri" pitchFamily="34" charset="0"/>
                <a:ea typeface="Calibri" pitchFamily="34" charset="-122"/>
                <a:cs typeface="Calibri" pitchFamily="34" charset="-120"/>
              </a:rPr>
              <a:t>Most transactions cluster within a common mid-range value band</a:t>
            </a:r>
            <a:endParaRPr lang="en-US" sz="1400" dirty="0"/>
          </a:p>
        </p:txBody>
      </p:sp>
      <p:sp>
        <p:nvSpPr>
          <p:cNvPr id="6" name="Shape 4"/>
          <p:cNvSpPr/>
          <p:nvPr/>
        </p:nvSpPr>
        <p:spPr>
          <a:xfrm>
            <a:off x="6400800" y="914400"/>
            <a:ext cx="5394960" cy="5029200"/>
          </a:xfrm>
          <a:prstGeom prst="roundRect">
            <a:avLst>
              <a:gd name="adj" fmla="val 1455"/>
            </a:avLst>
          </a:prstGeom>
          <a:solidFill>
            <a:srgbClr val="F4F4F4"/>
          </a:solidFill>
          <a:ln/>
          <a:effectLst>
            <a:outerShdw sx="100000" sy="100000" kx="0" ky="0" algn="bl" rotWithShape="0" blurRad="76200" dist="25400" dir="5400000">
              <a:srgbClr val="000000">
                <a:alpha val="12000"/>
              </a:srgbClr>
            </a:outerShdw>
          </a:effectLst>
        </p:spPr>
      </p:sp>
      <p:pic>
        <p:nvPicPr>
          <p:cNvPr id="7" name="Image 0" descr="/home/claude/charts/chart_7.png">    </p:cNvPr>
          <p:cNvPicPr>
            <a:picLocks noChangeAspect="1"/>
          </p:cNvPicPr>
          <p:nvPr/>
        </p:nvPicPr>
        <p:blipFill>
          <a:blip r:embed="rId1"/>
          <a:stretch>
            <a:fillRect/>
          </a:stretch>
        </p:blipFill>
        <p:spPr>
          <a:xfrm>
            <a:off x="6400800" y="1612567"/>
            <a:ext cx="5394960" cy="3632865"/>
          </a:xfrm>
          <a:prstGeom prst="rect">
            <a:avLst/>
          </a:prstGeom>
        </p:spPr>
      </p:pic>
      <p:sp>
        <p:nvSpPr>
          <p:cNvPr id="8" name="Text 5"/>
          <p:cNvSpPr/>
          <p:nvPr/>
        </p:nvSpPr>
        <p:spPr>
          <a:xfrm>
            <a:off x="457200" y="6537960"/>
            <a:ext cx="5486400" cy="274320"/>
          </a:xfrm>
          <a:prstGeom prst="rect">
            <a:avLst/>
          </a:prstGeom>
          <a:noFill/>
          <a:ln/>
        </p:spPr>
        <p:txBody>
          <a:bodyPr wrap="square" rtlCol="0" anchor="ctr"/>
          <a:lstStyle/>
          <a:p>
            <a:pPr indent="0" marL="0">
              <a:buNone/>
            </a:pPr>
            <a:r>
              <a:rPr lang="en-US" sz="900" dirty="0">
                <a:solidFill>
                  <a:srgbClr val="6B6B6B"/>
                </a:solidFill>
                <a:latin typeface="Calibri" pitchFamily="34" charset="0"/>
                <a:ea typeface="Calibri" pitchFamily="34" charset="-122"/>
                <a:cs typeface="Calibri" pitchFamily="34" charset="-120"/>
              </a:rPr>
              <a:t>Balaji Fast Food Sales Analysis</a:t>
            </a:r>
            <a:endParaRPr lang="en-US" sz="900" dirty="0"/>
          </a:p>
        </p:txBody>
      </p:sp>
      <p:sp>
        <p:nvSpPr>
          <p:cNvPr id="9" name="Text 6"/>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0" y="502920"/>
            <a:ext cx="5394960" cy="320040"/>
          </a:xfrm>
          <a:prstGeom prst="rect">
            <a:avLst/>
          </a:prstGeom>
          <a:noFill/>
          <a:ln/>
        </p:spPr>
        <p:txBody>
          <a:bodyPr wrap="square" rtlCol="0" anchor="ctr"/>
          <a:lstStyle/>
          <a:p>
            <a:pPr indent="0" marL="0">
              <a:buNone/>
            </a:pPr>
            <a:r>
              <a:rPr lang="en-US" sz="1200" b="1" spc="150" kern="0" dirty="0">
                <a:solidFill>
                  <a:srgbClr val="C1272D"/>
                </a:solidFill>
                <a:latin typeface="Calibri" pitchFamily="34" charset="0"/>
                <a:ea typeface="Calibri" pitchFamily="34" charset="-122"/>
                <a:cs typeface="Calibri" pitchFamily="34" charset="-120"/>
              </a:rPr>
              <a:t>VISUAL 8 OF 9  ·  BOX PLOT</a:t>
            </a:r>
            <a:endParaRPr lang="en-US" sz="1200" dirty="0"/>
          </a:p>
        </p:txBody>
      </p:sp>
      <p:sp>
        <p:nvSpPr>
          <p:cNvPr id="3" name="Text 1"/>
          <p:cNvSpPr/>
          <p:nvPr/>
        </p:nvSpPr>
        <p:spPr>
          <a:xfrm>
            <a:off x="6400800" y="822960"/>
            <a:ext cx="5394960" cy="914400"/>
          </a:xfrm>
          <a:prstGeom prst="rect">
            <a:avLst/>
          </a:prstGeom>
          <a:noFill/>
          <a:ln/>
        </p:spPr>
        <p:txBody>
          <a:bodyPr wrap="square" rtlCol="0" anchor="ctr"/>
          <a:lstStyle/>
          <a:p>
            <a:pPr indent="0" marL="0">
              <a:lnSpc>
                <a:spcPct val="105000"/>
              </a:lnSpc>
              <a:buNone/>
            </a:pPr>
            <a:r>
              <a:rPr lang="en-US" sz="2700" b="1" dirty="0">
                <a:solidFill>
                  <a:srgbClr val="1B1B1B"/>
                </a:solidFill>
                <a:latin typeface="Cambria" pitchFamily="34" charset="0"/>
                <a:ea typeface="Cambria" pitchFamily="34" charset="-122"/>
                <a:cs typeface="Cambria" pitchFamily="34" charset="-120"/>
              </a:rPr>
              <a:t>Transaction Amount Outliers</a:t>
            </a:r>
            <a:endParaRPr lang="en-US" sz="2700" dirty="0"/>
          </a:p>
        </p:txBody>
      </p:sp>
      <p:sp>
        <p:nvSpPr>
          <p:cNvPr id="4" name="Shape 2"/>
          <p:cNvSpPr/>
          <p:nvPr/>
        </p:nvSpPr>
        <p:spPr>
          <a:xfrm>
            <a:off x="6400800" y="1874520"/>
            <a:ext cx="640080" cy="0"/>
          </a:xfrm>
          <a:prstGeom prst="line">
            <a:avLst/>
          </a:prstGeom>
          <a:noFill/>
          <a:ln w="31750">
            <a:solidFill>
              <a:srgbClr val="F4A300"/>
            </a:solidFill>
            <a:prstDash val="solid"/>
          </a:ln>
        </p:spPr>
      </p:sp>
      <p:sp>
        <p:nvSpPr>
          <p:cNvPr id="5" name="Text 3"/>
          <p:cNvSpPr/>
          <p:nvPr/>
        </p:nvSpPr>
        <p:spPr>
          <a:xfrm>
            <a:off x="6400800" y="2148840"/>
            <a:ext cx="5394960" cy="2377440"/>
          </a:xfrm>
          <a:prstGeom prst="rect">
            <a:avLst/>
          </a:prstGeom>
          <a:noFill/>
          <a:ln/>
        </p:spPr>
        <p:txBody>
          <a:bodyPr wrap="square" rtlCol="0" anchor="t"/>
          <a:lstStyle/>
          <a:p>
            <a:pPr marL="342900" indent="-342900">
              <a:lnSpc>
                <a:spcPct val="125000"/>
              </a:lnSpc>
              <a:spcAft>
                <a:spcPts val="1600"/>
              </a:spcAft>
              <a:buSzPct val="100000"/>
              <a:buChar char="•"/>
            </a:pPr>
            <a:r>
              <a:rPr lang="en-US" sz="1400" dirty="0">
                <a:solidFill>
                  <a:srgbClr val="1B1B1B"/>
                </a:solidFill>
                <a:latin typeface="Calibri" pitchFamily="34" charset="0"/>
                <a:ea typeface="Calibri" pitchFamily="34" charset="-122"/>
                <a:cs typeface="Calibri" pitchFamily="34" charset="-120"/>
              </a:rPr>
              <a:t>Visualizes the spread of transaction amounts and flags outliers</a:t>
            </a:r>
            <a:endParaRPr lang="en-US" sz="1400" dirty="0"/>
          </a:p>
          <a:p>
            <a:pPr marL="342900" indent="-342900">
              <a:lnSpc>
                <a:spcPct val="125000"/>
              </a:lnSpc>
              <a:spcAft>
                <a:spcPts val="1600"/>
              </a:spcAft>
              <a:buSzPct val="100000"/>
              <a:buChar char="•"/>
            </a:pPr>
            <a:r>
              <a:rPr lang="en-US" sz="1400" dirty="0">
                <a:solidFill>
                  <a:srgbClr val="1B1B1B"/>
                </a:solidFill>
                <a:latin typeface="Calibri" pitchFamily="34" charset="0"/>
                <a:ea typeface="Calibri" pitchFamily="34" charset="-122"/>
                <a:cs typeface="Calibri" pitchFamily="34" charset="-120"/>
              </a:rPr>
              <a:t>44 outliers lie outside the IQR bounds of -240 to 720, kept as valid high-value sales</a:t>
            </a:r>
            <a:endParaRPr lang="en-US" sz="1400" dirty="0"/>
          </a:p>
        </p:txBody>
      </p:sp>
      <p:sp>
        <p:nvSpPr>
          <p:cNvPr id="6" name="Shape 4"/>
          <p:cNvSpPr/>
          <p:nvPr/>
        </p:nvSpPr>
        <p:spPr>
          <a:xfrm>
            <a:off x="548640" y="914400"/>
            <a:ext cx="5394960" cy="5029200"/>
          </a:xfrm>
          <a:prstGeom prst="roundRect">
            <a:avLst>
              <a:gd name="adj" fmla="val 1455"/>
            </a:avLst>
          </a:prstGeom>
          <a:solidFill>
            <a:srgbClr val="F4F4F4"/>
          </a:solidFill>
          <a:ln/>
          <a:effectLst>
            <a:outerShdw sx="100000" sy="100000" kx="0" ky="0" algn="bl" rotWithShape="0" blurRad="76200" dist="25400" dir="5400000">
              <a:srgbClr val="000000">
                <a:alpha val="12000"/>
              </a:srgbClr>
            </a:outerShdw>
          </a:effectLst>
        </p:spPr>
      </p:sp>
      <p:pic>
        <p:nvPicPr>
          <p:cNvPr id="7" name="Image 0" descr="/home/claude/charts/chart_8.png">    </p:cNvPr>
          <p:cNvPicPr>
            <a:picLocks noChangeAspect="1"/>
          </p:cNvPicPr>
          <p:nvPr/>
        </p:nvPicPr>
        <p:blipFill>
          <a:blip r:embed="rId1"/>
          <a:stretch>
            <a:fillRect/>
          </a:stretch>
        </p:blipFill>
        <p:spPr>
          <a:xfrm>
            <a:off x="548640" y="1686311"/>
            <a:ext cx="5394960" cy="3485377"/>
          </a:xfrm>
          <a:prstGeom prst="rect">
            <a:avLst/>
          </a:prstGeom>
        </p:spPr>
      </p:pic>
      <p:sp>
        <p:nvSpPr>
          <p:cNvPr id="8" name="Text 5"/>
          <p:cNvSpPr/>
          <p:nvPr/>
        </p:nvSpPr>
        <p:spPr>
          <a:xfrm>
            <a:off x="457200" y="6537960"/>
            <a:ext cx="5486400" cy="274320"/>
          </a:xfrm>
          <a:prstGeom prst="rect">
            <a:avLst/>
          </a:prstGeom>
          <a:noFill/>
          <a:ln/>
        </p:spPr>
        <p:txBody>
          <a:bodyPr wrap="square" rtlCol="0" anchor="ctr"/>
          <a:lstStyle/>
          <a:p>
            <a:pPr indent="0" marL="0">
              <a:buNone/>
            </a:pPr>
            <a:r>
              <a:rPr lang="en-US" sz="900" dirty="0">
                <a:solidFill>
                  <a:srgbClr val="6B6B6B"/>
                </a:solidFill>
                <a:latin typeface="Calibri" pitchFamily="34" charset="0"/>
                <a:ea typeface="Calibri" pitchFamily="34" charset="-122"/>
                <a:cs typeface="Calibri" pitchFamily="34" charset="-120"/>
              </a:rPr>
              <a:t>Balaji Fast Food Sales Analysis</a:t>
            </a:r>
            <a:endParaRPr lang="en-US" sz="900" dirty="0"/>
          </a:p>
        </p:txBody>
      </p:sp>
      <p:sp>
        <p:nvSpPr>
          <p:cNvPr id="9" name="Text 6"/>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5394960" cy="320040"/>
          </a:xfrm>
          <a:prstGeom prst="rect">
            <a:avLst/>
          </a:prstGeom>
          <a:noFill/>
          <a:ln/>
        </p:spPr>
        <p:txBody>
          <a:bodyPr wrap="square" rtlCol="0" anchor="ctr"/>
          <a:lstStyle/>
          <a:p>
            <a:pPr indent="0" marL="0">
              <a:buNone/>
            </a:pPr>
            <a:r>
              <a:rPr lang="en-US" sz="1200" b="1" spc="150" kern="0" dirty="0">
                <a:solidFill>
                  <a:srgbClr val="C1272D"/>
                </a:solidFill>
                <a:latin typeface="Calibri" pitchFamily="34" charset="0"/>
                <a:ea typeface="Calibri" pitchFamily="34" charset="-122"/>
                <a:cs typeface="Calibri" pitchFamily="34" charset="-120"/>
              </a:rPr>
              <a:t>VISUAL 9 OF 9  ·  BAR CHART</a:t>
            </a:r>
            <a:endParaRPr lang="en-US" sz="1200" dirty="0"/>
          </a:p>
        </p:txBody>
      </p:sp>
      <p:sp>
        <p:nvSpPr>
          <p:cNvPr id="3" name="Text 1"/>
          <p:cNvSpPr/>
          <p:nvPr/>
        </p:nvSpPr>
        <p:spPr>
          <a:xfrm>
            <a:off x="548640" y="822960"/>
            <a:ext cx="5394960" cy="914400"/>
          </a:xfrm>
          <a:prstGeom prst="rect">
            <a:avLst/>
          </a:prstGeom>
          <a:noFill/>
          <a:ln/>
        </p:spPr>
        <p:txBody>
          <a:bodyPr wrap="square" rtlCol="0" anchor="ctr"/>
          <a:lstStyle/>
          <a:p>
            <a:pPr indent="0" marL="0">
              <a:lnSpc>
                <a:spcPct val="105000"/>
              </a:lnSpc>
              <a:buNone/>
            </a:pPr>
            <a:r>
              <a:rPr lang="en-US" sz="2700" b="1" dirty="0">
                <a:solidFill>
                  <a:srgbClr val="1B1B1B"/>
                </a:solidFill>
                <a:latin typeface="Cambria" pitchFamily="34" charset="0"/>
                <a:ea typeface="Cambria" pitchFamily="34" charset="-122"/>
                <a:cs typeface="Cambria" pitchFamily="34" charset="-120"/>
              </a:rPr>
              <a:t>Sales by Received By</a:t>
            </a:r>
            <a:endParaRPr lang="en-US" sz="2700" dirty="0"/>
          </a:p>
        </p:txBody>
      </p:sp>
      <p:sp>
        <p:nvSpPr>
          <p:cNvPr id="4" name="Shape 2"/>
          <p:cNvSpPr/>
          <p:nvPr/>
        </p:nvSpPr>
        <p:spPr>
          <a:xfrm>
            <a:off x="548640" y="1874520"/>
            <a:ext cx="640080" cy="0"/>
          </a:xfrm>
          <a:prstGeom prst="line">
            <a:avLst/>
          </a:prstGeom>
          <a:noFill/>
          <a:ln w="31750">
            <a:solidFill>
              <a:srgbClr val="F4A300"/>
            </a:solidFill>
            <a:prstDash val="solid"/>
          </a:ln>
        </p:spPr>
      </p:sp>
      <p:sp>
        <p:nvSpPr>
          <p:cNvPr id="5" name="Text 3"/>
          <p:cNvSpPr/>
          <p:nvPr/>
        </p:nvSpPr>
        <p:spPr>
          <a:xfrm>
            <a:off x="548640" y="2148840"/>
            <a:ext cx="5394960" cy="2377440"/>
          </a:xfrm>
          <a:prstGeom prst="rect">
            <a:avLst/>
          </a:prstGeom>
          <a:noFill/>
          <a:ln/>
        </p:spPr>
        <p:txBody>
          <a:bodyPr wrap="square" rtlCol="0" anchor="t"/>
          <a:lstStyle/>
          <a:p>
            <a:pPr marL="342900" indent="-342900">
              <a:lnSpc>
                <a:spcPct val="125000"/>
              </a:lnSpc>
              <a:spcAft>
                <a:spcPts val="1600"/>
              </a:spcAft>
              <a:buSzPct val="100000"/>
              <a:buChar char="•"/>
            </a:pPr>
            <a:r>
              <a:rPr lang="en-US" sz="1400" dirty="0">
                <a:solidFill>
                  <a:srgbClr val="1B1B1B"/>
                </a:solidFill>
                <a:latin typeface="Calibri" pitchFamily="34" charset="0"/>
                <a:ea typeface="Calibri" pitchFamily="34" charset="-122"/>
                <a:cs typeface="Calibri" pitchFamily="34" charset="-120"/>
              </a:rPr>
              <a:t>Compares total sales handled across the received_by staff categories</a:t>
            </a:r>
            <a:endParaRPr lang="en-US" sz="1400" dirty="0"/>
          </a:p>
          <a:p>
            <a:pPr marL="342900" indent="-342900">
              <a:lnSpc>
                <a:spcPct val="125000"/>
              </a:lnSpc>
              <a:spcAft>
                <a:spcPts val="1600"/>
              </a:spcAft>
              <a:buSzPct val="100000"/>
              <a:buChar char="•"/>
            </a:pPr>
            <a:r>
              <a:rPr lang="en-US" sz="1400" dirty="0">
                <a:solidFill>
                  <a:srgbClr val="1B1B1B"/>
                </a:solidFill>
                <a:latin typeface="Calibri" pitchFamily="34" charset="0"/>
                <a:ea typeface="Calibri" pitchFamily="34" charset="-122"/>
                <a:cs typeface="Calibri" pitchFamily="34" charset="-120"/>
              </a:rPr>
              <a:t>Shows the difference in sales volume associated with each category</a:t>
            </a:r>
            <a:endParaRPr lang="en-US" sz="1400" dirty="0"/>
          </a:p>
        </p:txBody>
      </p:sp>
      <p:sp>
        <p:nvSpPr>
          <p:cNvPr id="6" name="Shape 4"/>
          <p:cNvSpPr/>
          <p:nvPr/>
        </p:nvSpPr>
        <p:spPr>
          <a:xfrm>
            <a:off x="6400800" y="914400"/>
            <a:ext cx="5394960" cy="5029200"/>
          </a:xfrm>
          <a:prstGeom prst="roundRect">
            <a:avLst>
              <a:gd name="adj" fmla="val 1455"/>
            </a:avLst>
          </a:prstGeom>
          <a:solidFill>
            <a:srgbClr val="F4F4F4"/>
          </a:solidFill>
          <a:ln/>
          <a:effectLst>
            <a:outerShdw sx="100000" sy="100000" kx="0" ky="0" algn="bl" rotWithShape="0" blurRad="76200" dist="25400" dir="5400000">
              <a:srgbClr val="000000">
                <a:alpha val="12000"/>
              </a:srgbClr>
            </a:outerShdw>
          </a:effectLst>
        </p:spPr>
      </p:sp>
      <p:pic>
        <p:nvPicPr>
          <p:cNvPr id="7" name="Image 0" descr="/home/claude/charts/chart_9.png">    </p:cNvPr>
          <p:cNvPicPr>
            <a:picLocks noChangeAspect="1"/>
          </p:cNvPicPr>
          <p:nvPr/>
        </p:nvPicPr>
        <p:blipFill>
          <a:blip r:embed="rId1"/>
          <a:stretch>
            <a:fillRect/>
          </a:stretch>
        </p:blipFill>
        <p:spPr>
          <a:xfrm>
            <a:off x="6400800" y="1409027"/>
            <a:ext cx="5394960" cy="4039947"/>
          </a:xfrm>
          <a:prstGeom prst="rect">
            <a:avLst/>
          </a:prstGeom>
        </p:spPr>
      </p:pic>
      <p:sp>
        <p:nvSpPr>
          <p:cNvPr id="8" name="Text 5"/>
          <p:cNvSpPr/>
          <p:nvPr/>
        </p:nvSpPr>
        <p:spPr>
          <a:xfrm>
            <a:off x="457200" y="6537960"/>
            <a:ext cx="5486400" cy="274320"/>
          </a:xfrm>
          <a:prstGeom prst="rect">
            <a:avLst/>
          </a:prstGeom>
          <a:noFill/>
          <a:ln/>
        </p:spPr>
        <p:txBody>
          <a:bodyPr wrap="square" rtlCol="0" anchor="ctr"/>
          <a:lstStyle/>
          <a:p>
            <a:pPr indent="0" marL="0">
              <a:buNone/>
            </a:pPr>
            <a:r>
              <a:rPr lang="en-US" sz="900" dirty="0">
                <a:solidFill>
                  <a:srgbClr val="6B6B6B"/>
                </a:solidFill>
                <a:latin typeface="Calibri" pitchFamily="34" charset="0"/>
                <a:ea typeface="Calibri" pitchFamily="34" charset="-122"/>
                <a:cs typeface="Calibri" pitchFamily="34" charset="-120"/>
              </a:rPr>
              <a:t>Balaji Fast Food Sales Analysis</a:t>
            </a:r>
            <a:endParaRPr lang="en-US" sz="900" dirty="0"/>
          </a:p>
        </p:txBody>
      </p:sp>
      <p:sp>
        <p:nvSpPr>
          <p:cNvPr id="9" name="Text 6"/>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1B1B"/>
        </a:solidFill>
      </p:bgPr>
    </p:bg>
    <p:spTree>
      <p:nvGrpSpPr>
        <p:cNvPr id="1" name=""/>
        <p:cNvGrpSpPr/>
        <p:nvPr/>
      </p:nvGrpSpPr>
      <p:grpSpPr>
        <a:xfrm>
          <a:off x="0" y="0"/>
          <a:ext cx="0" cy="0"/>
          <a:chOff x="0" y="0"/>
          <a:chExt cx="0" cy="0"/>
        </a:xfrm>
      </p:grpSpPr>
      <p:sp>
        <p:nvSpPr>
          <p:cNvPr id="2" name="Shape 0"/>
          <p:cNvSpPr/>
          <p:nvPr/>
        </p:nvSpPr>
        <p:spPr>
          <a:xfrm>
            <a:off x="-1371600" y="-1645920"/>
            <a:ext cx="4572000" cy="4572000"/>
          </a:xfrm>
          <a:prstGeom prst="ellipse">
            <a:avLst/>
          </a:prstGeom>
          <a:solidFill>
            <a:srgbClr val="8C1D22"/>
          </a:solidFill>
          <a:ln/>
        </p:spPr>
      </p:sp>
      <p:sp>
        <p:nvSpPr>
          <p:cNvPr id="3" name="Shape 1"/>
          <p:cNvSpPr/>
          <p:nvPr/>
        </p:nvSpPr>
        <p:spPr>
          <a:xfrm>
            <a:off x="10058400" y="4114800"/>
            <a:ext cx="3291840" cy="3291840"/>
          </a:xfrm>
          <a:prstGeom prst="ellipse">
            <a:avLst/>
          </a:prstGeom>
          <a:solidFill>
            <a:srgbClr val="F4A300"/>
          </a:solidFill>
          <a:ln/>
        </p:spPr>
      </p:sp>
      <p:sp>
        <p:nvSpPr>
          <p:cNvPr id="4" name="Text 2"/>
          <p:cNvSpPr/>
          <p:nvPr/>
        </p:nvSpPr>
        <p:spPr>
          <a:xfrm>
            <a:off x="0" y="2606040"/>
            <a:ext cx="12188952" cy="1005840"/>
          </a:xfrm>
          <a:prstGeom prst="rect">
            <a:avLst/>
          </a:prstGeom>
          <a:noFill/>
          <a:ln/>
        </p:spPr>
        <p:txBody>
          <a:bodyPr wrap="square"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5" name="Text 3"/>
          <p:cNvSpPr/>
          <p:nvPr/>
        </p:nvSpPr>
        <p:spPr>
          <a:xfrm>
            <a:off x="0" y="3611880"/>
            <a:ext cx="12188952" cy="457200"/>
          </a:xfrm>
          <a:prstGeom prst="rect">
            <a:avLst/>
          </a:prstGeom>
          <a:noFill/>
          <a:ln/>
        </p:spPr>
        <p:txBody>
          <a:bodyPr wrap="square" rtlCol="0" anchor="ctr"/>
          <a:lstStyle/>
          <a:p>
            <a:pPr algn="ctr" indent="0" marL="0">
              <a:buNone/>
            </a:pPr>
            <a:r>
              <a:rPr lang="en-US" sz="1500" dirty="0">
                <a:solidFill>
                  <a:srgbClr val="F4A300"/>
                </a:solidFill>
                <a:latin typeface="Calibri" pitchFamily="34" charset="0"/>
                <a:ea typeface="Calibri" pitchFamily="34" charset="-122"/>
                <a:cs typeface="Calibri" pitchFamily="34" charset="-120"/>
              </a:rPr>
              <a:t>Balaji Fast Food Sales Analysis  ·  Team Ignis</a:t>
            </a:r>
            <a:endParaRPr lang="en-US" sz="1500" dirty="0"/>
          </a:p>
        </p:txBody>
      </p:sp>
      <p:sp>
        <p:nvSpPr>
          <p:cNvPr id="6" name="Text 4"/>
          <p:cNvSpPr/>
          <p:nvPr/>
        </p:nvSpPr>
        <p:spPr>
          <a:xfrm>
            <a:off x="0" y="4023360"/>
            <a:ext cx="12188952" cy="365760"/>
          </a:xfrm>
          <a:prstGeom prst="rect">
            <a:avLst/>
          </a:prstGeom>
          <a:noFill/>
          <a:ln/>
        </p:spPr>
        <p:txBody>
          <a:bodyPr wrap="square" rtlCol="0" anchor="ctr"/>
          <a:lstStyle/>
          <a:p>
            <a:pPr algn="ctr" indent="0" marL="0">
              <a:buNone/>
            </a:pPr>
            <a:r>
              <a:rPr lang="en-US" sz="1200" dirty="0">
                <a:solidFill>
                  <a:srgbClr val="B8B8B8"/>
                </a:solidFill>
                <a:latin typeface="Calibri" pitchFamily="34" charset="0"/>
                <a:ea typeface="Calibri" pitchFamily="34" charset="-122"/>
                <a:cs typeface="Calibri" pitchFamily="34" charset="-120"/>
              </a:rPr>
              <a:t>GMR Institute of Technology (GMRIT)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2026-08-13T09:58:02Z</dcterms:created>
  <dcterms:modified xsi:type="dcterms:W3CDTF">2026-08-13T09:58:02Z</dcterms:modified>
</cp:coreProperties>
</file>