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24"/>
    <p:sldId id="271" r:id="rId22"/>
    <p:sldId id="272" r:id="rId23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  <Relationship Id="rId24" Type="http://schemas.openxmlformats.org/officeDocument/2006/relationships/slide" Target="slides/slide18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108960" y="4206240"/>
            <a:ext cx="5852160" cy="585216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6035040"/>
            <a:ext cx="2926080" cy="29260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2011680"/>
            <a:ext cx="3840480" cy="3840480"/>
          </a:xfrm>
          <a:prstGeom prst="ellipse">
            <a:avLst/>
          </a:prstGeom>
          <a:solidFill>
            <a:srgbClr val="F5B301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-914400"/>
            <a:ext cx="1920240" cy="192024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8961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Charging Energy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Prediction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1605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machine learning model that predicts how much energy (kWh) an EV charging session will consume, using information available before the session ends.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623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Ignis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053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GMR Institute of Technology (GMRIT)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0789920" cy="3840480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Number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L. Pranay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23341A1266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Srikar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23341A1288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Haneesh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23341A12B0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Bhargav Raju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23341A12C9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Project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78992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regression model that predicts energy_consumed_kWh using only information genuinely available before or as charging begins — battery capacity, initial charge level, charging power, vehicle type, and station/session context.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 USED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4343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0" y="434340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0F6E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0" y="4343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37760" y="434340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4343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32320" y="434340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0F6E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0" y="4343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0" y="434340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0B1F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0" y="4343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DATA INSPECTION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463040"/>
          </a:xfrm>
          <a:prstGeom prst="roundRect">
            <a:avLst>
              <a:gd name="adj" fmla="val 75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70992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8,354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24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514600" cy="1463040"/>
          </a:xfrm>
          <a:prstGeom prst="roundRect">
            <a:avLst>
              <a:gd name="adj" fmla="val 75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291840" y="170992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24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514600" cy="1463040"/>
          </a:xfrm>
          <a:prstGeom prst="roundRect">
            <a:avLst>
              <a:gd name="adj" fmla="val 75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035040" y="170992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624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78240" y="1600200"/>
            <a:ext cx="2514600" cy="1463040"/>
          </a:xfrm>
          <a:prstGeom prst="roundRect">
            <a:avLst>
              <a:gd name="adj" fmla="val 75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778240" y="170992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2624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9476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numerical features — battery capacity, initial SOC, charging power, queue length, station load, electricity price and more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categorical features — vehicle type, station ID, location type, weather, traffic density, day of week and more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columns kept for feature engineering; every column fully populated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·  DATA PREPROCESSING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Cleaning, Leakage Removal &amp; Feature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2011680"/>
          </a:xfrm>
          <a:prstGeom prst="rect">
            <a:avLst/>
          </a:prstGeom>
          <a:solidFill>
            <a:srgbClr val="0EA37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64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Removal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21992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final_soc &amp; charging_duration dropped — both are algebraically derivable from the target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600200"/>
            <a:ext cx="82296" cy="2011680"/>
          </a:xfrm>
          <a:prstGeom prst="rect">
            <a:avLst/>
          </a:prstGeom>
          <a:solidFill>
            <a:srgbClr val="0EA3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764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221992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arrival_hour, day-of-week, is_weekend &amp; time_period extracted from arrival_time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86200"/>
            <a:ext cx="82296" cy="2011680"/>
          </a:xfrm>
          <a:prstGeom prst="rect">
            <a:avLst/>
          </a:prstGeom>
          <a:solidFill>
            <a:srgbClr val="0F6E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050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Decision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507992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High-energy sessions kept as valid — large-battery vehicles, not data errors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80760" y="38862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3886200"/>
            <a:ext cx="82296" cy="2011680"/>
          </a:xfrm>
          <a:prstGeom prst="rect">
            <a:avLst/>
          </a:prstGeom>
          <a:solidFill>
            <a:srgbClr val="0F6E7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4050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&amp; Duplicates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507992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 and 0 duplicate rows found across all 8,354 sessions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DATA VISUALIZATION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463040"/>
          </a:xfrm>
          <a:prstGeom prst="roundRect">
            <a:avLst>
              <a:gd name="adj" fmla="val 75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70992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24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FEATURED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514600" cy="1463040"/>
          </a:xfrm>
          <a:prstGeom prst="roundRect">
            <a:avLst>
              <a:gd name="adj" fmla="val 75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291840" y="170992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24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60020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were built with Matplotlib and Seaborn to explore how battery, charging and station-level factors relate to energy consumption — and to evaluate the final model's predictions.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11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TYPES USED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77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0" y="397764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0EA37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0" y="3977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397764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0B1F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37760" y="3977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32320" y="397764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0F6E7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0" y="3977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1 OF 8  ·  HISTOGRAM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Consumption Distribution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92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frequency of sessions across energy-consumption levels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energy_consumed_kWh column alone, across all 8,354 sessions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— most sessions fall in the 20–55 kWh band (mean 39.1, median 35.1 kWh)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98287" y="1904846"/>
            <a:ext cx="6254496" cy="3962709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5000"/>
              </a:srgbClr>
            </a:outerShdw>
          </a:effectLst>
        </p:spPr>
      </p:sp>
      <p:pic>
        <p:nvPicPr>
          <p:cNvPr id="6" name="Image 0" descr="charts/energy_dist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8015" y="2014574"/>
            <a:ext cx="6035040" cy="374325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2 OF 8  ·  BAR CHART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Consumed by Battery-Capacity Group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92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energy consumed across battery-capacity groups (30, 40, 60, 75 &amp; 100 kWh packs)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battery_capacity_kWh binned into groups, plotted against energy_consumed_kWh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battery-capacity groups consume more energy per session — the strongest predictor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98287" y="1904846"/>
            <a:ext cx="6254496" cy="3962709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5000"/>
              </a:srgbClr>
            </a:outerShdw>
          </a:effectLst>
        </p:spPr>
      </p:sp>
      <p:pic>
        <p:nvPicPr>
          <p:cNvPr id="6" name="Image 0" descr="charts/battery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8015" y="2014574"/>
            <a:ext cx="6035040" cy="374325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3 OF 8  ·  BAR CHART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Consumed by Initial SOC Group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92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energy consumed across initial state-of-charge groups (10–60%, in 10% bands)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initial_soc binned into groups, plotted against energy_consumed_kWh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initial-SOC groups consume more energy — an inverse relationship matching charging logic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98287" y="1904846"/>
            <a:ext cx="6254496" cy="3962709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5000"/>
              </a:srgbClr>
            </a:outerShdw>
          </a:effectLst>
        </p:spPr>
      </p:sp>
      <p:pic>
        <p:nvPicPr>
          <p:cNvPr id="6" name="Image 0" descr="charts/soc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8015" y="2014574"/>
            <a:ext cx="6035040" cy="374325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4 OF 8  ·  BOX PLOT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Consumed by Vehicle Type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92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of energy consumption across Bus, Car &amp; Two-Wheeler sessions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vehicle_type plotted against energy_consumed_kWh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median consumption (~35 kWh) across types — kept as a categorical feature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98287" y="1904846"/>
            <a:ext cx="6254496" cy="3962709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5000"/>
              </a:srgbClr>
            </a:outerShdw>
          </a:effectLst>
        </p:spPr>
      </p:sp>
      <p:pic>
        <p:nvPicPr>
          <p:cNvPr id="6" name="Image 0" descr="charts/vehicletype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8015" y="2014574"/>
            <a:ext cx="6035040" cy="374325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5 OF 8  ·  BAR CHART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Consumed by Charging-Power Group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92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energy consumed across charging-power groups (7, 11, 22 &amp; 50 kW)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charging_power_kW binned into groups, plotted against energy_consumed_kWh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weak, gradual relationship — power alone tells only part of the story, but is still included since it's known pre-session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98287" y="1904846"/>
            <a:ext cx="6254496" cy="3962709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5000"/>
              </a:srgbClr>
            </a:outerShdw>
          </a:effectLst>
        </p:spPr>
      </p:sp>
      <p:pic>
        <p:nvPicPr>
          <p:cNvPr id="6" name="Image 0" descr="charts/power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8015" y="2014574"/>
            <a:ext cx="6035040" cy="374325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6 OF 8  ·  BAR CHART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Comparison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92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and R² across the three trained models — Linear Regression, Random Forest &amp; Gradient Boosting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model's predictions vs. actual energy_consumed_kWh on the held-out test set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wins on both metrics (MAE 0.97 kWh, R² 0.994) and was selected as the final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98287" y="1904846"/>
            <a:ext cx="6254496" cy="3962709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5000"/>
              </a:srgbClr>
            </a:outerShdw>
          </a:effectLst>
        </p:spPr>
      </p:sp>
      <p:pic>
        <p:nvPicPr>
          <p:cNvPr id="6" name="Image 0" descr="charts/model_comparison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8015" y="2014574"/>
            <a:ext cx="6035040" cy="374325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7 OF 8  ·  BAR CHART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the Model's Predictions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92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relative importance of each input feature in the final model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Boosting model's feature-importance scores across all model inputs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&amp; initial SOC dominate — guides which inputs matter most in deployment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09646" y="1490472"/>
            <a:ext cx="5943137" cy="4791456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5000"/>
              </a:srgbClr>
            </a:outerShdw>
          </a:effectLst>
        </p:spPr>
      </p:sp>
      <p:pic>
        <p:nvPicPr>
          <p:cNvPr id="6" name="Image 0" descr="chart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9374" y="1600200"/>
            <a:ext cx="5723681" cy="4572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of the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  <a:effectLst>
            <a:outerShdw sx="100000" sy="100000" kx="0" ky="0" algn="bl" rotWithShape="0" blurRad="63500" dist="25400" dir="5400000">
              <a:srgbClr val="9AA7B5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01368"/>
            <a:ext cx="502920" cy="502920"/>
          </a:xfrm>
          <a:prstGeom prst="ellipse">
            <a:avLst/>
          </a:prstGeom>
          <a:solidFill>
            <a:srgbClr val="0EA37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0136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Inspection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8,354 rows × 27 columns reviewed; 0 missing or duplicate values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87952" y="160020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  <a:effectLst>
            <a:outerShdw sx="100000" sy="100000" kx="0" ky="0" algn="bl" rotWithShape="0" blurRad="63500" dist="25400" dir="5400000">
              <a:srgbClr val="9AA7B5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1801368"/>
            <a:ext cx="502920" cy="502920"/>
          </a:xfrm>
          <a:prstGeom prst="ellipse">
            <a:avLst/>
          </a:prstGeom>
          <a:solidFill>
            <a:srgbClr val="0F6E7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16552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056632" y="180136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&amp; Leakage Removal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2468880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leakage columns dropped before modeling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827264" y="160020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  <a:effectLst>
            <a:outerShdw sx="100000" sy="100000" kx="0" ky="0" algn="bl" rotWithShape="0" blurRad="63500" dist="25400" dir="5400000">
              <a:srgbClr val="9AA7B5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55864" y="1801368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55864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695944" y="180136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055864" y="2468880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features extracted from the arrival timestamp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  <a:effectLst>
            <a:outerShdw sx="100000" sy="100000" kx="0" ky="0" algn="bl" rotWithShape="0" blurRad="63500" dist="25400" dir="5400000">
              <a:srgbClr val="9AA7B5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78808"/>
            <a:ext cx="502920" cy="502920"/>
          </a:xfrm>
          <a:prstGeom prst="ellipse">
            <a:avLst/>
          </a:prstGeom>
          <a:solidFill>
            <a:srgbClr val="0EA37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17880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846320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charts built to study the drivers of energy consumption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187952" y="397764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  <a:effectLst>
            <a:outerShdw sx="100000" sy="100000" kx="0" ky="0" algn="bl" rotWithShape="0" blurRad="63500" dist="25400" dir="5400000">
              <a:srgbClr val="9AA7B5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16552" y="4178808"/>
            <a:ext cx="502920" cy="502920"/>
          </a:xfrm>
          <a:prstGeom prst="ellipse">
            <a:avLst/>
          </a:prstGeom>
          <a:solidFill>
            <a:srgbClr val="0F6E7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16552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056632" y="417880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416552" y="4846320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regression models trained through one shared pipeline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827264" y="397764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  <a:effectLst>
            <a:outerShdw sx="100000" sy="100000" kx="0" ky="0" algn="bl" rotWithShape="0" blurRad="63500" dist="25400" dir="5400000">
              <a:srgbClr val="9AA7B5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55864" y="4178808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55864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695944" y="417880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 Selection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055864" y="4846320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selected — MAE 0.97 kWh, R² 0.994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108960" y="4206240"/>
            <a:ext cx="5852160" cy="585216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6035040"/>
            <a:ext cx="2926080" cy="29260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2011680"/>
            <a:ext cx="3840480" cy="3840480"/>
          </a:xfrm>
          <a:prstGeom prst="ellipse">
            <a:avLst/>
          </a:prstGeom>
          <a:solidFill>
            <a:srgbClr val="F5B301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-914400"/>
            <a:ext cx="1920240" cy="192024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834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  ·  Team Ignis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51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GMR Institute of Technology (GMRIT)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·  MODEL TRAINING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Three Regression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2011680"/>
          </a:xfrm>
          <a:prstGeom prst="rect">
            <a:avLst/>
          </a:prstGeom>
          <a:solidFill>
            <a:srgbClr val="0EA37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64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Train/Test Split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21992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split, with a fixed random_state for reproducible, comparable results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600200"/>
            <a:ext cx="82296" cy="2011680"/>
          </a:xfrm>
          <a:prstGeom prst="rect">
            <a:avLst/>
          </a:prstGeom>
          <a:solidFill>
            <a:srgbClr val="0EA3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764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Preprocessing Pipeline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221992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encoding &amp; scaling pipeline applied to all three models before fitting, so comparisons stay fair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86200"/>
            <a:ext cx="82296" cy="2011680"/>
          </a:xfrm>
          <a:prstGeom prst="rect">
            <a:avLst/>
          </a:prstGeom>
          <a:solidFill>
            <a:srgbClr val="0F6E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050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Trained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507992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(baseline), Random Forest &amp; Gradient Boosting — three complementary regression approaches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80760" y="38862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3886200"/>
            <a:ext cx="82296" cy="2011680"/>
          </a:xfrm>
          <a:prstGeom prst="rect">
            <a:avLst/>
          </a:prstGeom>
          <a:solidFill>
            <a:srgbClr val="0F6E7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4050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507992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energy_consumed_kWh, predicted only from features available before or at the start of charging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·  EVALUATION &amp; SELECTION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Models &amp; Selecting the Best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2011680"/>
          </a:xfrm>
          <a:prstGeom prst="rect">
            <a:avLst/>
          </a:prstGeom>
          <a:solidFill>
            <a:srgbClr val="0EA37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64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Used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21992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(MAE) and R² score, both computed on the held-out test set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600200"/>
            <a:ext cx="82296" cy="2011680"/>
          </a:xfrm>
          <a:prstGeom prst="rect">
            <a:avLst/>
          </a:prstGeom>
          <a:solidFill>
            <a:srgbClr val="0EA3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764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221992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outperformed Linear Regression &amp; Random Forest on both metrics (see Visual 6)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86200"/>
            <a:ext cx="82296" cy="2011680"/>
          </a:xfrm>
          <a:prstGeom prst="rect">
            <a:avLst/>
          </a:prstGeom>
          <a:solidFill>
            <a:srgbClr val="0F6E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050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 Selected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507992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— MAE 0.97 kWh, R² 0.994 on unseen test sessions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80760" y="38862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3886200"/>
            <a:ext cx="82296" cy="2011680"/>
          </a:xfrm>
          <a:prstGeom prst="rect">
            <a:avLst/>
          </a:prstGeom>
          <a:solidFill>
            <a:srgbClr val="0F6E7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4050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Wins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507992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non-linear relationships between battery capacity, SOC &amp; power that the linear model misses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8 OF 8  ·  SCATTER PLOT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vs. Predicted Energy Consumption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92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Boosting's predicted energy consumption against the actual test-set values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actual energy_consumed_kWh for every session in the held-out test set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2000" b="1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20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cluster tightly along the perfect-prediction line, confirming strong real-world accuracy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09646" y="1490472"/>
            <a:ext cx="5943137" cy="4791456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5000"/>
              </a:srgbClr>
            </a:outerShdw>
          </a:effectLst>
        </p:spPr>
      </p:sp>
      <p:pic>
        <p:nvPicPr>
          <p:cNvPr id="6" name="Image 0" descr="charts/actual_vs_p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9374" y="1600200"/>
            <a:ext cx="5723681" cy="4572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Energy Consumption Prediction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2026-09-07T05:23:56Z</dcterms:created>
  <dcterms:modified xsi:type="dcterms:W3CDTF">2026-09-07T05:23:56Z</dcterms:modified>
</cp:coreProperties>
</file>